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6f8ee3a4cb4d9b" /><Relationship Type="http://schemas.openxmlformats.org/officeDocument/2006/relationships/extended-properties" Target="/docProps/app.xml" Id="Rd3de0e11a1354f18" /><Relationship Type="http://schemas.openxmlformats.org/officeDocument/2006/relationships/officeDocument" Target="/ppt/presentation.xml" Id="Rf5db559b6dd14c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e476d5b4f54694"/>
  </p:sldMasterIdLst>
  <p:notesMasterIdLst>
    <p:notesMasterId xmlns:r="http://schemas.openxmlformats.org/officeDocument/2006/relationships" r:id="R78a43bc1fbe4448e"/>
  </p:notesMasterIdLst>
  <p:sldIdLst>
    <p:sldId xmlns:r="http://schemas.openxmlformats.org/officeDocument/2006/relationships" id="256" r:id="Rc8ff4753c22d4c91"/>
    <p:sldId xmlns:r="http://schemas.openxmlformats.org/officeDocument/2006/relationships" id="257" r:id="R47300e011e164fe8"/>
    <p:sldId xmlns:r="http://schemas.openxmlformats.org/officeDocument/2006/relationships" id="258" r:id="R5c2ff52bb407419d"/>
    <p:sldId xmlns:r="http://schemas.openxmlformats.org/officeDocument/2006/relationships" id="259" r:id="R0dacbd280d2947f8"/>
    <p:sldId xmlns:r="http://schemas.openxmlformats.org/officeDocument/2006/relationships" id="260" r:id="R430dd604e16e4141"/>
    <p:sldId xmlns:r="http://schemas.openxmlformats.org/officeDocument/2006/relationships" id="261" r:id="R2f1328ffc2004900"/>
    <p:sldId xmlns:r="http://schemas.openxmlformats.org/officeDocument/2006/relationships" id="262" r:id="Rd6676654b5de4e5f"/>
    <p:sldId xmlns:r="http://schemas.openxmlformats.org/officeDocument/2006/relationships" id="263" r:id="R72a95fb339cb466d"/>
    <p:sldId xmlns:r="http://schemas.openxmlformats.org/officeDocument/2006/relationships" id="264" r:id="Rc487c4fbbd78483f"/>
    <p:sldId xmlns:r="http://schemas.openxmlformats.org/officeDocument/2006/relationships" id="265" r:id="Rd00a71c5b0f547b1"/>
    <p:sldId xmlns:r="http://schemas.openxmlformats.org/officeDocument/2006/relationships" id="266" r:id="R84bf6c3f42554e6d"/>
    <p:sldId xmlns:r="http://schemas.openxmlformats.org/officeDocument/2006/relationships" id="267" r:id="R4f5a97aa397f4df5"/>
    <p:sldId xmlns:r="http://schemas.openxmlformats.org/officeDocument/2006/relationships" id="268" r:id="R8f1e0b67475f4d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d21f52b5a5422a" /><Relationship Type="http://schemas.openxmlformats.org/officeDocument/2006/relationships/slideMaster" Target="/ppt/slideMasters/slideMaster1.xml" Id="R40e476d5b4f54694" /><Relationship Type="http://schemas.openxmlformats.org/officeDocument/2006/relationships/notesMaster" Target="/ppt/notesMasters/notesMaster1.xml" Id="R78a43bc1fbe4448e" /><Relationship Type="http://schemas.openxmlformats.org/officeDocument/2006/relationships/presProps" Target="/ppt/presProps.xml" Id="Ref868bcef8034da3" /><Relationship Type="http://schemas.openxmlformats.org/officeDocument/2006/relationships/tableStyles" Target="/ppt/tableStyles.xml" Id="R3b71136e5bee4519" /><Relationship Type="http://schemas.openxmlformats.org/officeDocument/2006/relationships/slide" Target="/ppt/slides/slide1.xml" Id="Rc8ff4753c22d4c91" /><Relationship Type="http://schemas.openxmlformats.org/officeDocument/2006/relationships/slide" Target="/ppt/slides/slide2.xml" Id="R47300e011e164fe8" /><Relationship Type="http://schemas.openxmlformats.org/officeDocument/2006/relationships/slide" Target="/ppt/slides/slide3.xml" Id="R5c2ff52bb407419d" /><Relationship Type="http://schemas.openxmlformats.org/officeDocument/2006/relationships/slide" Target="/ppt/slides/slide4.xml" Id="R0dacbd280d2947f8" /><Relationship Type="http://schemas.openxmlformats.org/officeDocument/2006/relationships/slide" Target="/ppt/slides/slide5.xml" Id="R430dd604e16e4141" /><Relationship Type="http://schemas.openxmlformats.org/officeDocument/2006/relationships/slide" Target="/ppt/slides/slide6.xml" Id="R2f1328ffc2004900" /><Relationship Type="http://schemas.openxmlformats.org/officeDocument/2006/relationships/slide" Target="/ppt/slides/slide7.xml" Id="Rd6676654b5de4e5f" /><Relationship Type="http://schemas.openxmlformats.org/officeDocument/2006/relationships/slide" Target="/ppt/slides/slide8.xml" Id="R72a95fb339cb466d" /><Relationship Type="http://schemas.openxmlformats.org/officeDocument/2006/relationships/slide" Target="/ppt/slides/slide9.xml" Id="Rc487c4fbbd78483f" /><Relationship Type="http://schemas.openxmlformats.org/officeDocument/2006/relationships/slide" Target="/ppt/slides/slide10.xml" Id="Rd00a71c5b0f547b1" /><Relationship Type="http://schemas.openxmlformats.org/officeDocument/2006/relationships/slide" Target="/ppt/slides/slide11.xml" Id="R84bf6c3f42554e6d" /><Relationship Type="http://schemas.openxmlformats.org/officeDocument/2006/relationships/slide" Target="/ppt/slides/slide12.xml" Id="R4f5a97aa397f4df5" /><Relationship Type="http://schemas.openxmlformats.org/officeDocument/2006/relationships/slide" Target="/ppt/slides/slide13.xml" Id="R8f1e0b67475f4d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5b889d501b42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6badc9614d47b5" /><Relationship Type="http://schemas.openxmlformats.org/officeDocument/2006/relationships/notesMaster" Target="/ppt/notesMasters/notesMaster1.xml" Id="Rcb9759624ea441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1659e791f445cb" /><Relationship Type="http://schemas.openxmlformats.org/officeDocument/2006/relationships/notesMaster" Target="/ppt/notesMasters/notesMaster1.xml" Id="R12f84991022e48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ca311444054016" /><Relationship Type="http://schemas.openxmlformats.org/officeDocument/2006/relationships/notesMaster" Target="/ppt/notesMasters/notesMaster1.xml" Id="Rd9b74c7f05964d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0da256f32f47de" /><Relationship Type="http://schemas.openxmlformats.org/officeDocument/2006/relationships/notesMaster" Target="/ppt/notesMasters/notesMaster1.xml" Id="R2c76578d03804c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b928ef62604d8c" /><Relationship Type="http://schemas.openxmlformats.org/officeDocument/2006/relationships/notesMaster" Target="/ppt/notesMasters/notesMaster1.xml" Id="R88c755a9fa5646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5568b0c31c44e2" /><Relationship Type="http://schemas.openxmlformats.org/officeDocument/2006/relationships/notesMaster" Target="/ppt/notesMasters/notesMaster1.xml" Id="R3b9723d8fea045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ec5ff2865a425e" /><Relationship Type="http://schemas.openxmlformats.org/officeDocument/2006/relationships/notesMaster" Target="/ppt/notesMasters/notesMaster1.xml" Id="R7aa460bec7154e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68c0909b23421d" /><Relationship Type="http://schemas.openxmlformats.org/officeDocument/2006/relationships/notesMaster" Target="/ppt/notesMasters/notesMaster1.xml" Id="Rbcc4bf5ffbd541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51b2cab26d4730" /><Relationship Type="http://schemas.openxmlformats.org/officeDocument/2006/relationships/notesMaster" Target="/ppt/notesMasters/notesMaster1.xml" Id="R8d401e7af59142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86cebdc8254760" /><Relationship Type="http://schemas.openxmlformats.org/officeDocument/2006/relationships/notesMaster" Target="/ppt/notesMasters/notesMaster1.xml" Id="Rf5d2c12d1ee840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75f5390fb541d7" /><Relationship Type="http://schemas.openxmlformats.org/officeDocument/2006/relationships/notesMaster" Target="/ppt/notesMasters/notesMaster1.xml" Id="R3ef3457e2b7e49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727307aa854513" /><Relationship Type="http://schemas.openxmlformats.org/officeDocument/2006/relationships/notesMaster" Target="/ppt/notesMasters/notesMaster1.xml" Id="R5b0ce5708ea14a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09331825ac4439" /><Relationship Type="http://schemas.openxmlformats.org/officeDocument/2006/relationships/notesMaster" Target="/ppt/notesMasters/notesMaster1.xml" Id="Ra4b54edd3d7140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category, not the feature. Mapa Societario is a relationship-intelligence product built on Spain's corporate-publication stream.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https://mapasocietario.es/?guide=1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problem is not lack of data. It is the cost of reconstructing context: identity, time, status and relationships. This is why a graph-first workflow creates differentiated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https://www.boe.es/diario_borme/ayuda.php?lang=en</a:t>
            </a:r>
          </a:p>
          <a:p xmlns:a="http://schemas.openxmlformats.org/drawingml/2006/main">
            <a:r>
              <a:t>- https://mapasocietario.es/about.html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workflow in one sentence: search a name, expand the network, then preserve or monetize the result. The screenshot is a live capture of Banco Santander on 14 August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https://mapasocietario.es/app</a:t>
            </a:r>
          </a:p>
          <a:p xmlns:a="http://schemas.openxmlformats.org/drawingml/2006/main">
            <a:r>
              <a:t>- Live product screenshot captured 14 August 2026; stored in the deck build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market count as the object base, not as revenue TAM. The core timing argument is the convergence of official digital history, stricter diligence expectations and usable AI workflows.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https://www.ine.es/dyngs/Prensa/en/DIRCE2025.htm</a:t>
            </a:r>
          </a:p>
          <a:p xmlns:a="http://schemas.openxmlformats.org/drawingml/2006/main">
            <a:r>
              <a:t>- https://www.boe.es/diario_borme/ayuda.php?lang=en</a:t>
            </a:r>
          </a:p>
          <a:p xmlns:a="http://schemas.openxmlformats.org/drawingml/2006/main">
            <a:r>
              <a:t>- https://www.consilium.europa.eu/en/press/press-releases/2024/05/30/anti-money-laundering-council-adopts-package-of-rules/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asset-scale metrics, not vanity metrics. The defensibility comes from continuously improving resolution and temporal context on top of the public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src/components/LandingPage.jsx; fallback refreshed from /bormes/stats/overview on 13 August 2026.</a:t>
            </a:r>
          </a:p>
          <a:p xmlns:a="http://schemas.openxmlformats.org/drawingml/2006/main">
            <a:r>
              <a:t>- https://mapasocietario.es/?guide=1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business architecture. Free access is the acquisition mechanism; retention and revenue come from monitoring, collaboration, reports and integration.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docs/market-adoption-playbook.md</a:t>
            </a:r>
          </a:p>
          <a:p xmlns:a="http://schemas.openxmlformats.org/drawingml/2006/main">
            <a:r>
              <a:t>- Repository src/components/landingCopy.jsx and src/components/DueDiligencePage.jsx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about the stage. The four-week analytics show genuine product exploration; the two sold reports show willingness to pay. A major Spanish news agency is in an active discussion about potential applications, not a partnership or committed pilot. The round is designed to make conversion repeatable.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docs/market-adoption-playbook.md (513 users; 69 graph-selection users; 41 node-click users).</a:t>
            </a:r>
          </a:p>
          <a:p xmlns:a="http://schemas.openxmlformats.org/drawingml/2006/main">
            <a:r>
              <a:t>- Founder-reported on 14 August 2026: two due diligence reports sold.</a:t>
            </a:r>
          </a:p>
          <a:p xmlns:a="http://schemas.openxmlformats.org/drawingml/2006/main">
            <a:r>
              <a:t>- Founder-reported on 14 August 2026: ongoing discussion with a major Spanish news agency about potential applications; no agreement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current product from roadmap. Reports are live; Pro and enterprise layers are the monetization plan the round funds. The free graph remains the top-of-funnel advantage.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https://mapasocietario.es/pricing</a:t>
            </a:r>
          </a:p>
          <a:p xmlns:a="http://schemas.openxmlformats.org/drawingml/2006/main">
            <a:r>
              <a:t>- Repository docs/due-diligence-pricing-proposal.md</a:t>
            </a:r>
          </a:p>
          <a:p xmlns:a="http://schemas.openxmlformats.org/drawingml/2006/main">
            <a:r>
              <a:t>- Repository src/components/PricingPage.jsx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against jobs, not feature checklists. The registry is authoritative; aggregators are strong at reports and credit data. Mapa's differentiated job is relationship discovery and continuity.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https://sede.registradores.org/site/home?lang=es_ES</a:t>
            </a:r>
          </a:p>
          <a:p xmlns:a="http://schemas.openxmlformats.org/drawingml/2006/main">
            <a:r>
              <a:t>- https://www.infoempresa.com/es-es/es/informe-de-empresa</a:t>
            </a:r>
          </a:p>
          <a:p xmlns:a="http://schemas.openxmlformats.org/drawingml/2006/main">
            <a:r>
              <a:t>- https://www.einforma.com/informacion-empresas/informes-empresas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Spain is the focused wedge, not the ceiling. NC Data gives the team practical multi-country experience; the venture outcome is a cross-border relationship layer and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https://single-market-economy.ec.europa.eu/smes/sme-strategy-and-sme-friendly-business-conditions/sme-performance-review_en</a:t>
            </a:r>
          </a:p>
          <a:p xmlns:a="http://schemas.openxmlformats.org/drawingml/2006/main">
            <a:r>
              <a:t>- https://mapasocietario.es/about.html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team slide is intentionally honest: the product has been founder-led. The investable opportunity is converting proven velocity and domain expertise into a focused multidisciplinary team.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https://mapasocietario.es/about.html</a:t>
            </a:r>
          </a:p>
          <a:p xmlns:a="http://schemas.openxmlformats.org/drawingml/2006/main">
            <a:r>
              <a:t>- Repository snapshot on 14 August 2026: git history, source-line count and test-file count.</a:t>
            </a:r>
          </a:p>
          <a:p xmlns:a="http://schemas.openxmlformats.org/drawingml/2006/main">
            <a:r>
              <a:t>- Repository chrome-extension/README.md and package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a specific round and a falsifiable plan. The amount, allocation and milestones are recommendations for investor discussion, not historical commitments. Adjust once the founder confirms current burn, hiring geography and desired dilution.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Funding plan is a recommended scenario prepared 14 August 2026; no external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appendix only with a news-agency owner or another strategic media investor. The purpose is to make the strategic upside concrete without implying exclusivity, partnership, pilot status or a commercial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Founder-reported on 14 August 2026: ongoing discussion with a major Spanish news agency about potential applications; no agreement claimed.</a:t>
            </a:r>
          </a:p>
          <a:p xmlns:a="http://schemas.openxmlformats.org/drawingml/2006/main">
            <a:r>
              <a:t>- Repository product capabilities: graph exploration, annotations, saved workspaces, monitoring and due diligence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abe0d234041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5aaaba1a5d41b4" /><Relationship Type="http://schemas.openxmlformats.org/officeDocument/2006/relationships/slideLayout" Target="/ppt/slideLayouts/slideLayout1.xml" Id="R3950aa0ac0e84a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50aa0ac0e84a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548c10d3e4827" /><Relationship Type="http://schemas.openxmlformats.org/officeDocument/2006/relationships/notesSlide" Target="/ppt/notesSlides/notesSlide1.xml" Id="Rc0c5e0d951aa4c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1330a695e4153" /><Relationship Type="http://schemas.openxmlformats.org/officeDocument/2006/relationships/notesSlide" Target="/ppt/notesSlides/notesSlide2.xml" Id="R7836d9fb06da48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aa6437532491b" /><Relationship Type="http://schemas.openxmlformats.org/officeDocument/2006/relationships/image" Target="/ppt/media/image.jpeg" Id="R6d73d4fa08674ee1" /><Relationship Type="http://schemas.openxmlformats.org/officeDocument/2006/relationships/notesSlide" Target="/ppt/notesSlides/notesSlide3.xml" Id="R8311616c266a41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d9f00d4c44545" /><Relationship Type="http://schemas.openxmlformats.org/officeDocument/2006/relationships/notesSlide" Target="/ppt/notesSlides/notesSlide4.xml" Id="R461aaf208b9c42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be2445aa94813" /><Relationship Type="http://schemas.openxmlformats.org/officeDocument/2006/relationships/notesSlide" Target="/ppt/notesSlides/notesSlide5.xml" Id="Read5b268fb0e4e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dbfc1ecbd4e22" /><Relationship Type="http://schemas.openxmlformats.org/officeDocument/2006/relationships/notesSlide" Target="/ppt/notesSlides/notesSlide6.xml" Id="R0d22b22c681c47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c711487124f80" /><Relationship Type="http://schemas.openxmlformats.org/officeDocument/2006/relationships/chart" Target="/ppt/slides/charts/chart1.xml" Id="R1ea5aa4f2b754cb2" /><Relationship Type="http://schemas.openxmlformats.org/officeDocument/2006/relationships/notesSlide" Target="/ppt/notesSlides/notesSlide7.xml" Id="Rc43abffe691f4b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56d00a5b54e20" /><Relationship Type="http://schemas.openxmlformats.org/officeDocument/2006/relationships/notesSlide" Target="/ppt/notesSlides/notesSlide8.xml" Id="Rcf0d54122aa841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c9442584d4510" /><Relationship Type="http://schemas.openxmlformats.org/officeDocument/2006/relationships/notesSlide" Target="/ppt/notesSlides/notesSlide9.xml" Id="R974be4bdc69c40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176a148074fd0" /><Relationship Type="http://schemas.openxmlformats.org/officeDocument/2006/relationships/notesSlide" Target="/ppt/notesSlides/notesSlide10.xml" Id="Rad7490425ea44e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9fe1a9ab747c0" /><Relationship Type="http://schemas.openxmlformats.org/officeDocument/2006/relationships/notesSlide" Target="/ppt/notesSlides/notesSlide11.xml" Id="Rac92dc54d9ac44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a887b144f40da" /><Relationship Type="http://schemas.openxmlformats.org/officeDocument/2006/relationships/notesSlide" Target="/ppt/notesSlides/notesSlide12.xml" Id="Ra1aa51a49afb45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67a9a5ec447eb" /><Relationship Type="http://schemas.openxmlformats.org/officeDocument/2006/relationships/notesSlide" Target="/ppt/notesSlides/notesSlide13.xml" Id="R7871259b2aa6486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Users</c:v>
          </c:tx>
          <c:spPr>
            <a:solidFill xmlns:a="http://schemas.openxmlformats.org/drawingml/2006/main">
              <a:srgbClr val="14B8A6"/>
            </a:solidFill>
          </c:spPr>
          <c:cat>
            <c:strLit>
              <c:ptCount val="3"/>
              <c:pt idx="0">
                <c:v>Property users</c:v>
              </c:pt>
              <c:pt idx="1">
                <c:v>Graph selections</c:v>
              </c:pt>
              <c:pt idx="2">
                <c:v>Node explorers</c:v>
              </c:pt>
            </c:strLit>
          </c:cat>
          <c:val>
            <c:numLit>
              <c:formatCode>General</c:formatCode>
              <c:ptCount val="3"/>
              <c:pt idx="0">
                <c:v>513</c:v>
              </c:pt>
              <c:pt idx="1">
                <c:v>69</c:v>
              </c:pt>
              <c:pt idx="2">
                <c:v>41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0B12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22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F988BD3-3FC5-4E7E-8764-E0032E52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MAPA SOCIETARIO · PRE-SEED · AUGUST 2026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F743DED-CE29-44D6-B200-DD45335C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8107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0B1220"/>
                </a:solidFill>
              </a:defRPr>
            </a:pPr>
            <a:r>
              <a:rPr sz="5700" b="1" i="0">
                <a:solidFill>
                  <a:srgbClr val="0B1220"/>
                </a:solidFill>
              </a:rPr>
              <a:t>The relationship</a:t>
            </a:r>
          </a:p>
          <a:p xmlns:a="http://schemas.openxmlformats.org/drawingml/2006/main">
            <a:pPr algn="l">
              <a:defRPr sz="5700" b="1" i="0">
                <a:solidFill>
                  <a:srgbClr val="0B1220"/>
                </a:solidFill>
              </a:defRPr>
            </a:pPr>
            <a:r>
              <a:rPr sz="5700" b="1" i="0">
                <a:solidFill>
                  <a:srgbClr val="0B1220"/>
                </a:solidFill>
              </a:rPr>
              <a:t>intelligence layer</a:t>
            </a:r>
          </a:p>
          <a:p xmlns:a="http://schemas.openxmlformats.org/drawingml/2006/main">
            <a:pPr algn="l">
              <a:defRPr sz="5700" b="1" i="0">
                <a:solidFill>
                  <a:srgbClr val="0B1220"/>
                </a:solidFill>
              </a:defRPr>
            </a:pPr>
            <a:r>
              <a:rPr sz="5700" b="1" i="0">
                <a:solidFill>
                  <a:srgbClr val="0B1220"/>
                </a:solidFill>
              </a:rPr>
              <a:t>for Spain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730D798-7B01-4CA8-9409-DC6338BF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2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2ECEA9E-B102-4FE6-B07F-3090ABE7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5E6878"/>
                </a:solidFill>
              </a:defRPr>
            </a:pPr>
            <a:r>
              <a:rPr sz="1950" b="0" i="0">
                <a:solidFill>
                  <a:srgbClr val="5E6878"/>
                </a:solidFill>
              </a:rPr>
              <a:t>Turning fragmented public filings into searchable corporate networks, continuous monitoring and decision-ready due diligence.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B597555-8BDB-46F8-9A89-287C422A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191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B1220"/>
                </a:solidFill>
              </a:defRPr>
            </a:pPr>
            <a:r>
              <a:rPr sz="1200" b="1" i="0">
                <a:solidFill>
                  <a:srgbClr val="0B1220"/>
                </a:solidFill>
              </a:rPr>
              <a:t>mapasocietario.es</a:t>
            </a:r>
          </a:p>
        </p:txBody>
      </p:sp>
    </p:spTree>
    <p:extLst>
      <p:ext uri="{BB962C8B-B14F-4D97-AF65-F5344CB8AC3E}">
        <p14:creationId xmlns:p14="http://schemas.microsoft.com/office/powerpoint/2010/main" val="4098803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6E8A89CC-4591-4A0A-9C6B-13BF7EA3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THE PROBLEM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3539F1-334C-4E55-98EE-C57FBC57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</a:defRPr>
            </a:pPr>
            <a:r>
              <a:rPr sz="3600" b="1" i="0">
                <a:solidFill>
                  <a:srgbClr val="0B1220"/>
                </a:solidFill>
              </a:rPr>
              <a:t>Corporate facts are public. Relationships are hidden.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D4CFC76-515E-4FCE-9A81-2DDA2C04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4667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B1220"/>
                </a:solidFill>
              </a:defRPr>
            </a:pPr>
            <a:r>
              <a:rPr sz="3300" b="1" i="0">
                <a:solidFill>
                  <a:srgbClr val="0B1220"/>
                </a:solidFill>
              </a:rPr>
              <a:t>A company name is not a company history.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B60C341-8FC0-47AE-B2D9-00F77EFF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46863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E6878"/>
                </a:solidFill>
              </a:defRPr>
            </a:pPr>
            <a:r>
              <a:rPr sz="1800" b="0" i="0">
                <a:solidFill>
                  <a:srgbClr val="5E6878"/>
                </a:solidFill>
              </a:rPr>
              <a:t>Professionals still reconstruct the network manually—across filings, dates, role changes and name variants—before they can make a decision.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39AF1B8-42FE-48C8-9A9A-FD524554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14500"/>
            <a:ext cx="5867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FFBDC65-2667-4276-96A0-8020F9F8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859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220"/>
                </a:solidFill>
              </a:defRPr>
            </a:pPr>
            <a:r>
              <a:rPr sz="1875" b="1" i="0">
                <a:solidFill>
                  <a:srgbClr val="0B1220"/>
                </a:solidFill>
              </a:rPr>
              <a:t>Records arrive as documents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51424EA-3253-47A5-B0B7-B9186060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85950"/>
            <a:ext cx="3124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878"/>
                </a:solidFill>
              </a:defRPr>
            </a:pPr>
            <a:r>
              <a:rPr sz="1350" b="0" i="0">
                <a:solidFill>
                  <a:srgbClr val="5E6878"/>
                </a:solidFill>
              </a:rPr>
              <a:t>The authoritative source is optimized for publication, not connected investigation.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F00E50DA-4F60-46C1-8309-480CF3B2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05150"/>
            <a:ext cx="586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B88784B-A81D-46B6-8935-88AB5DE0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766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220"/>
                </a:solidFill>
              </a:defRPr>
            </a:pPr>
            <a:r>
              <a:rPr sz="1875" b="1" i="0">
                <a:solidFill>
                  <a:srgbClr val="0B1220"/>
                </a:solidFill>
              </a:rPr>
              <a:t>Time changes the answer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067D615-705C-44F1-852A-98CD6660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76600"/>
            <a:ext cx="3124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878"/>
                </a:solidFill>
              </a:defRPr>
            </a:pPr>
            <a:r>
              <a:rPr sz="1350" b="0" i="0">
                <a:solidFill>
                  <a:srgbClr val="5E6878"/>
                </a:solidFill>
              </a:rPr>
              <a:t>Appointments, resignations, mergers and renamings turn a current snapshot into an incomplete story.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CF9C8232-61D5-456F-AD02-D43CF28A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95800"/>
            <a:ext cx="586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22C3892-CB90-4CB8-BC9A-D6734629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672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220"/>
                </a:solidFill>
              </a:defRPr>
            </a:pPr>
            <a:r>
              <a:rPr sz="1875" b="1" i="0">
                <a:solidFill>
                  <a:srgbClr val="0B1220"/>
                </a:solidFill>
              </a:rPr>
              <a:t>Risk lives in the network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F0B3341-2273-40B8-A505-D82A456D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67250"/>
            <a:ext cx="3124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878"/>
                </a:solidFill>
              </a:defRPr>
            </a:pPr>
            <a:r>
              <a:rPr sz="1350" b="0" i="0">
                <a:solidFill>
                  <a:srgbClr val="5E6878"/>
                </a:solidFill>
              </a:rPr>
              <a:t>Shared officers and related entities matter, but ordinary company reports keep them peripheral.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D30056D-88D7-46DD-B042-B7E9A885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CONFIDENTIAL · MAPA SOCIETARIO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62AF48C-1B49-4EAF-B2C5-88F89A7F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631653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085A7358-E472-4ED9-818A-85646631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THE PRODUCT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69E771-8FE5-4C9C-9857-67789ACA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</a:defRPr>
            </a:pPr>
            <a:r>
              <a:rPr sz="3600" b="1" i="0">
                <a:solidFill>
                  <a:srgbClr val="0B1220"/>
                </a:solidFill>
              </a:rPr>
              <a:t>A corporate network you can explore in seconds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70329D0-6A53-47F3-8B56-20773393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F766E"/>
                </a:solidFill>
              </a:defRPr>
            </a:pPr>
            <a:r>
              <a:rPr sz="1875" b="1" i="0">
                <a:solidFill>
                  <a:srgbClr val="0F766E"/>
                </a:solidFill>
              </a:rPr>
              <a:t>Search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D68127-0FD7-4489-BCC1-3B05282B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878"/>
                </a:solidFill>
              </a:defRPr>
            </a:pPr>
            <a:r>
              <a:rPr sz="1500" b="0" i="0">
                <a:solidFill>
                  <a:srgbClr val="5E6878"/>
                </a:solidFill>
              </a:rPr>
              <a:t>Find a company or officer through normalized, fuzzy entity search.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BFC033-CDBF-4577-A2C1-64EA3560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F766E"/>
                </a:solidFill>
              </a:defRPr>
            </a:pPr>
            <a:r>
              <a:rPr sz="1875" b="1" i="0">
                <a:solidFill>
                  <a:srgbClr val="0F766E"/>
                </a:solidFill>
              </a:rPr>
              <a:t>Explore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C09F18F-484D-49DD-878C-5BEF5F0A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878"/>
                </a:solidFill>
              </a:defRPr>
            </a:pPr>
            <a:r>
              <a:rPr sz="1500" b="0" i="0">
                <a:solidFill>
                  <a:srgbClr val="5E6878"/>
                </a:solidFill>
              </a:rPr>
              <a:t>Expand current and historic roles, shared officers, related companies and corporate events.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29980D6-F205-4F3B-A896-406531FC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F766E"/>
                </a:solidFill>
              </a:defRPr>
            </a:pPr>
            <a:r>
              <a:rPr sz="1875" b="1" i="0">
                <a:solidFill>
                  <a:srgbClr val="0F766E"/>
                </a:solidFill>
              </a:rPr>
              <a:t>Act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F9D8350-F127-4FDE-A5CE-1F2CCB11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878"/>
                </a:solidFill>
              </a:defRPr>
            </a:pPr>
            <a:r>
              <a:rPr sz="1500" b="0" i="0">
                <a:solidFill>
                  <a:srgbClr val="5E6878"/>
                </a:solidFill>
              </a:rPr>
              <a:t>Save the investigation, monitor changes, or generate a sourced due diligence report.</a:t>
            </a:r>
          </a:p>
        </p:txBody>
      </p:sp>
      <p:sp>
        <p:nvSpPr>
          <p:cNvPr id="9" name="product-frame">
            <a:extLst xmlns:a="http://schemas.openxmlformats.org/drawingml/2006/main">
              <a:ext uri="{FF2B5EF4-FFF2-40B4-BE49-F238E27FC236}">
                <a16:creationId xmlns:a16="http://schemas.microsoft.com/office/drawing/2014/main" id="{9DDEB586-9001-42F2-815A-BD4DD86B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657350"/>
            <a:ext cx="628650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0A0E1A"/>
          </a:solidFill>
          <a:ln xmlns:a="http://schemas.openxmlformats.org/drawingml/2006/main" w="9525">
            <a:solidFill>
              <a:srgbClr val="C8CFD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3d4fa08674ee1"/>
          <a:srcRect xmlns:a="http://schemas.openxmlformats.org/drawingml/2006/main" l="5057" t="0" r="50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2600" y="1771650"/>
            <a:ext cx="6057900" cy="3790950"/>
          </a:xfrm>
          <a:prstGeom xmlns:a="http://schemas.openxmlformats.org/drawingml/2006/main" prst="roundRect">
            <a:avLst>
              <a:gd name="adj" fmla="val 3015"/>
            </a:avLst>
          </a:prstGeom>
        </p:spPr>
      </p:pic>
      <p:sp>
        <p:nvSpPr>
          <p:cNvPr id="11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64E2C30-88EE-48F4-9D49-709160C7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CONFIDENTIAL · MAPA SOCIETARIO</a:t>
            </a:r>
          </a:p>
        </p:txBody>
      </p:sp>
      <p:sp>
        <p:nvSpPr>
          <p:cNvPr id="1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1C85549-A67E-42B0-9E3F-BBE21EA6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23540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8F72F3E6-F614-49AC-978B-260456D7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WHY NOW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A6735A-5B79-40BF-BCC0-DAB63A60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</a:defRPr>
            </a:pPr>
            <a:r>
              <a:rPr sz="3600" b="1" i="0">
                <a:solidFill>
                  <a:srgbClr val="0B1220"/>
                </a:solidFill>
              </a:rPr>
              <a:t>Three forces make the timing right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3515DC7-854E-4EE4-B455-103C8895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F766E"/>
                </a:solidFill>
              </a:defRPr>
            </a:pPr>
            <a:r>
              <a:rPr sz="5850" b="1" i="0">
                <a:solidFill>
                  <a:srgbClr val="0F766E"/>
                </a:solidFill>
              </a:rPr>
              <a:t>3.31m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945056C-5C31-4A8F-926D-40AC011E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220"/>
                </a:solidFill>
              </a:defRPr>
            </a:pPr>
            <a:r>
              <a:rPr sz="2100" b="1" i="0">
                <a:solidFill>
                  <a:srgbClr val="0B1220"/>
                </a:solidFill>
              </a:rPr>
              <a:t>economically active enterprises in Spain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18B0B10-22FC-413D-AB16-17B77DA4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6878"/>
                </a:solidFill>
              </a:defRPr>
            </a:pPr>
            <a:r>
              <a:rPr sz="1650" b="0" i="0">
                <a:solidFill>
                  <a:srgbClr val="5E6878"/>
                </a:solidFill>
              </a:rPr>
              <a:t>Each onboarding, supplier review, investment and investigation begins with an identity question.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3F39D4C8-CE8A-4543-A376-82D1D6C7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95450"/>
            <a:ext cx="190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5F4C680-F398-4422-9B99-B0C9C76A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764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4817B15-948E-4718-AC15-6AED793B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220"/>
                </a:solidFill>
              </a:defRPr>
            </a:pPr>
            <a:r>
              <a:rPr sz="2025" b="1" i="0">
                <a:solidFill>
                  <a:srgbClr val="0B1220"/>
                </a:solidFill>
              </a:rPr>
              <a:t>The source is machine-readable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C3A1919-1E74-46B7-9371-91DBA27C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878"/>
                </a:solidFill>
              </a:defRPr>
            </a:pPr>
            <a:r>
              <a:rPr sz="1350" b="0" i="0">
                <a:solidFill>
                  <a:srgbClr val="5E6878"/>
                </a:solidFill>
              </a:rPr>
              <a:t>Spain's electronic BORME has been official and authentic since 2009, creating a long public history to structure.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9689FBD-FBD5-473D-B171-8098BA95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051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E9968D5-93DF-4050-BBEE-FF80D254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220"/>
                </a:solidFill>
              </a:defRPr>
            </a:pPr>
            <a:r>
              <a:rPr sz="2025" b="1" i="0">
                <a:solidFill>
                  <a:srgbClr val="0B1220"/>
                </a:solidFill>
              </a:rPr>
              <a:t>The compliance bar is rising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2AF0E51-718C-4F64-A803-ABF324BA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81400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878"/>
                </a:solidFill>
              </a:defRPr>
            </a:pPr>
            <a:r>
              <a:rPr sz="1350" b="0" i="0">
                <a:solidFill>
                  <a:srgbClr val="5E6878"/>
                </a:solidFill>
              </a:rPr>
              <a:t>The EU's AML package tightens due diligence and beneficial-ownership requirements across a harmonized rulebook.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95BD862-1542-4AF0-9C75-AD4979CA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339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015E5A2-FD1C-4AFF-A15E-9D6DD464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220"/>
                </a:solidFill>
              </a:defRPr>
            </a:pPr>
            <a:r>
              <a:rPr sz="2025" b="1" i="0">
                <a:solidFill>
                  <a:srgbClr val="0B1220"/>
                </a:solidFill>
              </a:rPr>
              <a:t>AI makes evidence usable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3F84249-B0DB-43DC-B336-DD731908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878"/>
                </a:solidFill>
              </a:defRPr>
            </a:pPr>
            <a:r>
              <a:rPr sz="1350" b="0" i="0">
                <a:solidFill>
                  <a:srgbClr val="5E6878"/>
                </a:solidFill>
              </a:rPr>
              <a:t>Entity resolution, graph traversal and cited report generation can now become one professional workflow.</a:t>
            </a:r>
          </a:p>
        </p:txBody>
      </p:sp>
      <p:sp>
        <p:nvSpPr>
          <p:cNvPr id="1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6D18CDB-57F0-4B49-B1FF-A0770CE9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CONFIDENTIAL · MAPA SOCIETARIO</a:t>
            </a:r>
          </a:p>
        </p:txBody>
      </p:sp>
      <p:sp>
        <p:nvSpPr>
          <p:cNvPr id="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EE3CF51-9E36-430F-A53B-988FEF7B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26669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0A79265A-9BBF-443A-A1B4-D8C27D28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THE DATA ASSET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901019-78EA-435D-9B95-3AD155F2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</a:defRPr>
            </a:pPr>
            <a:r>
              <a:rPr sz="3600" b="1" i="0">
                <a:solidFill>
                  <a:srgbClr val="0B1220"/>
                </a:solidFill>
              </a:rPr>
              <a:t>The hard foundation is already substantial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8BFACA4-78F0-4AFF-A298-A80A9028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6878"/>
                </a:solidFill>
              </a:defRPr>
            </a:pPr>
            <a:r>
              <a:rPr sz="1650" b="0" i="0">
                <a:solidFill>
                  <a:srgbClr val="5E6878"/>
                </a:solidFill>
              </a:rPr>
              <a:t>Daily ingestion, parsing, normalization and graph construction turn public documents into a proprietary research layer.</a:t>
            </a:r>
          </a:p>
        </p:txBody>
      </p:sp>
      <p:sp>
        <p:nvSpPr>
          <p:cNvPr id="4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9A583991-43FA-4474-A79C-72663E90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3429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B94C7903-E399-45B9-990E-31EA2930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2D8D3D9A-B941-4303-AE0C-622F5167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B1220"/>
                </a:solidFill>
              </a:defRPr>
            </a:pPr>
            <a:r>
              <a:rPr sz="3900" b="1" i="0">
                <a:solidFill>
                  <a:srgbClr val="0B1220"/>
                </a:solidFill>
              </a:rPr>
              <a:t>3.15m</a:t>
            </a:r>
          </a:p>
        </p:txBody>
      </p:sp>
      <p:sp>
        <p:nvSpPr>
          <p:cNvPr id="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EA98426-4A22-428A-84D1-E54A2C25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</a:defRPr>
            </a:pPr>
            <a:r>
              <a:rPr sz="1800" b="1" i="0">
                <a:solidFill>
                  <a:srgbClr val="0B1220"/>
                </a:solidFill>
              </a:rPr>
              <a:t>companies</a:t>
            </a:r>
          </a:p>
        </p:txBody>
      </p:sp>
      <p:sp>
        <p:nvSpPr>
          <p:cNvPr id="8" name="metric-detail">
            <a:extLst xmlns:a="http://schemas.openxmlformats.org/drawingml/2006/main">
              <a:ext uri="{FF2B5EF4-FFF2-40B4-BE49-F238E27FC236}">
                <a16:creationId xmlns:a16="http://schemas.microsoft.com/office/drawing/2014/main" id="{2C79F51D-858F-4CB3-9B88-44DA88AE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8"/>
                </a:solidFill>
              </a:defRPr>
            </a:pPr>
            <a:r>
              <a:rPr sz="1275" b="0" i="0">
                <a:solidFill>
                  <a:srgbClr val="5E6878"/>
                </a:solidFill>
              </a:rPr>
              <a:t>Tracked across names, mergers, spin-offs and registry transfers.</a:t>
            </a:r>
          </a:p>
        </p:txBody>
      </p:sp>
      <p:sp>
        <p:nvSpPr>
          <p:cNvPr id="9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700F49F3-5BA9-4B82-B2AF-7AE1537A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3429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DA991166-CFD4-4D89-817C-0236AD42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BB02CD6-AC46-48FC-AE93-B79FE369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432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B1220"/>
                </a:solidFill>
              </a:defRPr>
            </a:pPr>
            <a:r>
              <a:rPr sz="3900" b="1" i="0">
                <a:solidFill>
                  <a:srgbClr val="0B1220"/>
                </a:solidFill>
              </a:rPr>
              <a:t>9.56m</a:t>
            </a:r>
          </a:p>
        </p:txBody>
      </p:sp>
      <p:sp>
        <p:nvSpPr>
          <p:cNvPr id="1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E125613E-79B7-46A7-94DD-0DA66BC5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814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</a:defRPr>
            </a:pPr>
            <a:r>
              <a:rPr sz="1800" b="1" i="0">
                <a:solidFill>
                  <a:srgbClr val="0B1220"/>
                </a:solidFill>
              </a:rPr>
              <a:t>corporate events</a:t>
            </a:r>
          </a:p>
        </p:txBody>
      </p:sp>
      <p:sp>
        <p:nvSpPr>
          <p:cNvPr id="13" name="metric-detail">
            <a:extLst xmlns:a="http://schemas.openxmlformats.org/drawingml/2006/main">
              <a:ext uri="{FF2B5EF4-FFF2-40B4-BE49-F238E27FC236}">
                <a16:creationId xmlns:a16="http://schemas.microsoft.com/office/drawing/2014/main" id="{26EDD2A2-89CB-4451-B048-81E27377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053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8"/>
                </a:solidFill>
              </a:defRPr>
            </a:pPr>
            <a:r>
              <a:rPr sz="1275" b="0" i="0">
                <a:solidFill>
                  <a:srgbClr val="5E6878"/>
                </a:solidFill>
              </a:rPr>
              <a:t>Structured from official BORME publication records.</a:t>
            </a:r>
          </a:p>
        </p:txBody>
      </p:sp>
      <p:sp>
        <p:nvSpPr>
          <p:cNvPr id="14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E388D4C7-7285-46E8-BCC5-32F727D5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3429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ACDF7145-3180-4588-A673-2376A332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3360022-385D-454D-BD3B-727898C0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432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B1220"/>
                </a:solidFill>
              </a:defRPr>
            </a:pPr>
            <a:r>
              <a:rPr sz="3900" b="1" i="0">
                <a:solidFill>
                  <a:srgbClr val="0B1220"/>
                </a:solidFill>
              </a:rPr>
              <a:t>6.48m</a:t>
            </a:r>
          </a:p>
        </p:txBody>
      </p:sp>
      <p:sp>
        <p:nvSpPr>
          <p:cNvPr id="1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DE4F01B-D934-4942-B322-E515AD61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814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</a:defRPr>
            </a:pPr>
            <a:r>
              <a:rPr sz="1800" b="1" i="0">
                <a:solidFill>
                  <a:srgbClr val="0B1220"/>
                </a:solidFill>
              </a:rPr>
              <a:t>officer changes</a:t>
            </a:r>
          </a:p>
        </p:txBody>
      </p:sp>
      <p:sp>
        <p:nvSpPr>
          <p:cNvPr id="18" name="metric-detail">
            <a:extLst xmlns:a="http://schemas.openxmlformats.org/drawingml/2006/main">
              <a:ext uri="{FF2B5EF4-FFF2-40B4-BE49-F238E27FC236}">
                <a16:creationId xmlns:a16="http://schemas.microsoft.com/office/drawing/2014/main" id="{FAB71428-CA9F-4E3C-A523-F1C5D659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053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8"/>
                </a:solidFill>
              </a:defRPr>
            </a:pPr>
            <a:r>
              <a:rPr sz="1275" b="0" i="0">
                <a:solidFill>
                  <a:srgbClr val="5E6878"/>
                </a:solidFill>
              </a:rPr>
              <a:t>Appointments and resignations preserved with time and status.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699E7A5-E5A4-4968-B59E-88FFD2CF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220"/>
                </a:solidFill>
              </a:defRPr>
            </a:pPr>
            <a:r>
              <a:rPr sz="1350" b="1" i="0">
                <a:solidFill>
                  <a:srgbClr val="0B1220"/>
                </a:solidFill>
              </a:rPr>
              <a:t>Coverage since 2009 · 1.73m company formations · refreshed on business days</a:t>
            </a:r>
          </a:p>
        </p:txBody>
      </p:sp>
      <p:sp>
        <p:nvSpPr>
          <p:cNvPr id="20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4163F40-9F1C-4D5C-BF54-FC8E766E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CONFIDENTIAL · MAPA SOCIETARIO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0FE0299-E034-4E14-A98F-971EBB6E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066844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FA340339-A648-482E-991C-7E8872E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THE GROWTH LOOP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476DA7-D5F1-4A62-B480-5F7722FB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</a:defRPr>
            </a:pPr>
            <a:r>
              <a:rPr sz="3600" b="1" i="0">
                <a:solidFill>
                  <a:srgbClr val="0B1220"/>
                </a:solidFill>
              </a:rPr>
              <a:t>Free discovery creates paid moments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33E759E-FC7E-41F5-8D73-35DC40B1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6878"/>
                </a:solidFill>
              </a:defRPr>
            </a:pPr>
            <a:r>
              <a:rPr sz="1650" b="0" i="0">
                <a:solidFill>
                  <a:srgbClr val="5E6878"/>
                </a:solidFill>
              </a:rPr>
              <a:t>The graph earns trust first. Monetization begins when a professional needs persistence, monitoring, documentation or integration.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72BE057-1BC8-4566-BCC9-BC7B5B63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81375"/>
            <a:ext cx="876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node">
            <a:extLst xmlns:a="http://schemas.openxmlformats.org/drawingml/2006/main">
              <a:ext uri="{FF2B5EF4-FFF2-40B4-BE49-F238E27FC236}">
                <a16:creationId xmlns:a16="http://schemas.microsoft.com/office/drawing/2014/main" id="{BD11D2AD-44A5-4CCD-8D16-810F671A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813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B9AD33A-4DE9-4ACD-96AA-C8128E2B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670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5444363-09DF-40F4-B514-E37AF007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220"/>
                </a:solidFill>
              </a:defRPr>
            </a:pPr>
            <a:r>
              <a:rPr sz="2100" b="1" i="0">
                <a:solidFill>
                  <a:srgbClr val="0B1220"/>
                </a:solidFill>
              </a:rPr>
              <a:t>Discover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C0D2C93-FE76-45C4-BAF8-1663C76F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766E"/>
                </a:solidFill>
              </a:defRPr>
            </a:pPr>
            <a:r>
              <a:rPr sz="1500" b="1" i="0">
                <a:solidFill>
                  <a:srgbClr val="0F766E"/>
                </a:solidFill>
              </a:rPr>
              <a:t>Free search and graph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07B152C-6041-47D0-B1A4-0FA500F0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878"/>
                </a:solidFill>
              </a:defRPr>
            </a:pPr>
            <a:r>
              <a:rPr sz="1350" b="0" i="0">
                <a:solidFill>
                  <a:srgbClr val="5E6878"/>
                </a:solidFill>
              </a:rPr>
              <a:t>SEO, direct links, Chrome and API entry points</a:t>
            </a:r>
          </a:p>
        </p:txBody>
      </p:sp>
      <p:sp>
        <p:nvSpPr>
          <p:cNvPr id="10" name="step-node">
            <a:extLst xmlns:a="http://schemas.openxmlformats.org/drawingml/2006/main">
              <a:ext uri="{FF2B5EF4-FFF2-40B4-BE49-F238E27FC236}">
                <a16:creationId xmlns:a16="http://schemas.microsoft.com/office/drawing/2014/main" id="{4592BA8E-FE2A-4CED-B02A-A2BD6E2A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813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5D61495-42D5-4112-A447-8E3C9EF6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670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08BF840-90D0-4F0F-ACE3-01479ADF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526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220"/>
                </a:solidFill>
              </a:defRPr>
            </a:pPr>
            <a:r>
              <a:rPr sz="2100" b="1" i="0">
                <a:solidFill>
                  <a:srgbClr val="0B1220"/>
                </a:solidFill>
              </a:rPr>
              <a:t>Investigate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3C03EE2-EBDA-47B3-AA7C-8D0A6445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766E"/>
                </a:solidFill>
              </a:defRPr>
            </a:pPr>
            <a:r>
              <a:rPr sz="1500" b="1" i="0">
                <a:solidFill>
                  <a:srgbClr val="0F766E"/>
                </a:solidFill>
              </a:rPr>
              <a:t>Expand and annotate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0FCC6FD-5DD2-450D-A1F4-68448B7B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052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878"/>
                </a:solidFill>
              </a:defRPr>
            </a:pPr>
            <a:r>
              <a:rPr sz="1350" b="0" i="0">
                <a:solidFill>
                  <a:srgbClr val="5E6878"/>
                </a:solidFill>
              </a:rPr>
              <a:t>Follow people, companies, roles and events</a:t>
            </a:r>
          </a:p>
        </p:txBody>
      </p:sp>
      <p:sp>
        <p:nvSpPr>
          <p:cNvPr id="15" name="step-node">
            <a:extLst xmlns:a="http://schemas.openxmlformats.org/drawingml/2006/main">
              <a:ext uri="{FF2B5EF4-FFF2-40B4-BE49-F238E27FC236}">
                <a16:creationId xmlns:a16="http://schemas.microsoft.com/office/drawing/2014/main" id="{2AAC9F4B-83C5-4B70-B717-C4F10465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813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805AA55-5987-48D9-BB9C-996C85E4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670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172027F-3548-4264-AF69-19C37F3C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220"/>
                </a:solidFill>
              </a:defRPr>
            </a:pPr>
            <a:r>
              <a:rPr sz="2100" b="1" i="0">
                <a:solidFill>
                  <a:srgbClr val="0B1220"/>
                </a:solidFill>
              </a:rPr>
              <a:t>Retain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6718F07-CD9D-4057-95DC-C1A736F2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86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766E"/>
                </a:solidFill>
              </a:defRPr>
            </a:pPr>
            <a:r>
              <a:rPr sz="1500" b="1" i="0">
                <a:solidFill>
                  <a:srgbClr val="0F766E"/>
                </a:solidFill>
              </a:rPr>
              <a:t>Monitor changes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B579C21-5529-4E9A-BB9F-A50431AE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052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878"/>
                </a:solidFill>
              </a:defRPr>
            </a:pPr>
            <a:r>
              <a:rPr sz="1350" b="0" i="0">
                <a:solidFill>
                  <a:srgbClr val="5E6878"/>
                </a:solidFill>
              </a:rPr>
              <a:t>Return when BORME or IOSCO produces a signal</a:t>
            </a:r>
          </a:p>
        </p:txBody>
      </p:sp>
      <p:sp>
        <p:nvSpPr>
          <p:cNvPr id="20" name="step-node">
            <a:extLst xmlns:a="http://schemas.openxmlformats.org/drawingml/2006/main">
              <a:ext uri="{FF2B5EF4-FFF2-40B4-BE49-F238E27FC236}">
                <a16:creationId xmlns:a16="http://schemas.microsoft.com/office/drawing/2014/main" id="{CF0FE08C-FF05-4B44-8D98-15B91720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813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3B6173F-0742-461E-9773-CD1D5C9D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670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97C4A7F-9586-4FE5-9BC0-276962F8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526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220"/>
                </a:solidFill>
              </a:defRPr>
            </a:pPr>
            <a:r>
              <a:rPr sz="2100" b="1" i="0">
                <a:solidFill>
                  <a:srgbClr val="0B1220"/>
                </a:solidFill>
              </a:rPr>
              <a:t>Monetize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4B2678F-0174-43EC-97D4-5FB687A4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766E"/>
                </a:solidFill>
              </a:defRPr>
            </a:pPr>
            <a:r>
              <a:rPr sz="1500" b="1" i="0">
                <a:solidFill>
                  <a:srgbClr val="0F766E"/>
                </a:solidFill>
              </a:rPr>
              <a:t>Report, Pro or API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9EF676B-73BA-43F0-9E09-B7CB5261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052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878"/>
                </a:solidFill>
              </a:defRPr>
            </a:pPr>
            <a:r>
              <a:rPr sz="1350" b="0" i="0">
                <a:solidFill>
                  <a:srgbClr val="5E6878"/>
                </a:solidFill>
              </a:rPr>
              <a:t>Charge when evidence becomes a workflow or deliverable</a:t>
            </a:r>
          </a:p>
        </p:txBody>
      </p:sp>
      <p:sp>
        <p:nvSpPr>
          <p:cNvPr id="25" name="loop-callout">
            <a:extLst xmlns:a="http://schemas.openxmlformats.org/drawingml/2006/main">
              <a:ext uri="{FF2B5EF4-FFF2-40B4-BE49-F238E27FC236}">
                <a16:creationId xmlns:a16="http://schemas.microsoft.com/office/drawing/2014/main" id="{A3AFD3D0-E56E-4468-8D49-0E8FF88D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0E865A7-E221-4D8C-ADF6-937F5CCB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Investment thesis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0082527-714F-4B73-8E2D-870FA6BD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3721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</a:defRPr>
            </a:pPr>
            <a:r>
              <a:rPr sz="1800" b="1" i="0">
                <a:solidFill>
                  <a:srgbClr val="0B1220"/>
                </a:solidFill>
              </a:rPr>
              <a:t>Convert a proven free research surface into a recurring professional system of record.</a:t>
            </a:r>
          </a:p>
        </p:txBody>
      </p:sp>
      <p:sp>
        <p:nvSpPr>
          <p:cNvPr id="28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938B41D-97DE-44DF-B9A0-1BC1F9ED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CONFIDENTIAL · MAPA SOCIETARIO</a:t>
            </a:r>
          </a:p>
        </p:txBody>
      </p:sp>
      <p:sp>
        <p:nvSpPr>
          <p:cNvPr id="2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B1F3AA0-EE0D-4B44-AFFC-23E504B1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44943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98088756-1BC8-4AEB-86AA-B95BE1A9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EARLY PROOF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E5ED90-58A4-46DC-A157-B0A3E497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</a:defRPr>
            </a:pPr>
            <a:r>
              <a:rPr sz="3600" b="1" i="0">
                <a:solidFill>
                  <a:srgbClr val="0B1220"/>
                </a:solidFill>
              </a:rPr>
              <a:t>Commercial signals are already emerging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A264F67-9E96-491A-9E40-E624ECC4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8"/>
                </a:solidFill>
              </a:defRPr>
            </a:pPr>
            <a:r>
              <a:rPr sz="1275" b="0" i="0">
                <a:solidFill>
                  <a:srgbClr val="5E6878"/>
                </a:solidFill>
              </a:rPr>
              <a:t>Four-week property baseline, 16 July–12 August 2026. Raw user counts; not a strict funnel.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57200" y="1962150"/>
          <a:ext xmlns:a="http://schemas.openxmlformats.org/drawingml/2006/main" cx="6191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a5aa4f2b754cb2"/>
          </a:graphicData>
        </a:graphic>
      </p:graphicFrame>
      <p:sp>
        <p:nvSpPr>
          <p:cNvPr id="5" name="paid-proof">
            <a:extLst xmlns:a="http://schemas.openxmlformats.org/drawingml/2006/main">
              <a:ext uri="{FF2B5EF4-FFF2-40B4-BE49-F238E27FC236}">
                <a16:creationId xmlns:a16="http://schemas.microsoft.com/office/drawing/2014/main" id="{00DD9563-0E16-4241-A166-B56D7264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24050"/>
            <a:ext cx="45720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0A0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31572B5-017F-476F-927D-3873E46D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7170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14B8A6"/>
                </a:solidFill>
              </a:defRPr>
            </a:pPr>
            <a:r>
              <a:rPr sz="4950" b="1" i="0">
                <a:solidFill>
                  <a:srgbClr val="14B8A6"/>
                </a:solidFill>
              </a:rPr>
              <a:t>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DF82F64-B4C3-46AA-81A5-597B972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908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due diligence reports sold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9E9D939-B06D-4160-A15B-F518AA00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624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</a:defRPr>
            </a:pPr>
            <a:r>
              <a:rPr sz="1800" b="1" i="0">
                <a:solidFill>
                  <a:srgbClr val="0B1220"/>
                </a:solidFill>
              </a:rPr>
              <a:t>Willingness to pay is real. Repeatability is the next proof point.</a:t>
            </a:r>
          </a:p>
        </p:txBody>
      </p:sp>
      <p:sp>
        <p:nvSpPr>
          <p:cNvPr id="9" name="strategic-signal">
            <a:extLst xmlns:a="http://schemas.openxmlformats.org/drawingml/2006/main">
              <a:ext uri="{FF2B5EF4-FFF2-40B4-BE49-F238E27FC236}">
                <a16:creationId xmlns:a16="http://schemas.microsoft.com/office/drawing/2014/main" id="{4AC3D06A-3032-4A02-A6FE-0E386960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19650"/>
            <a:ext cx="4572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9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1A2D29D-3C5F-4937-9BC0-0698135F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10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766E"/>
                </a:solidFill>
              </a:defRPr>
            </a:pPr>
            <a:r>
              <a:rPr sz="1425" b="1" i="0">
                <a:solidFill>
                  <a:srgbClr val="0F766E"/>
                </a:solidFill>
              </a:rPr>
              <a:t>Major Spanish news agency · active discussion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43027FD-29D1-48B7-A1C2-A837BBB1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91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220"/>
                </a:solidFill>
              </a:defRPr>
            </a:pPr>
            <a:r>
              <a:rPr sz="1275" b="0" i="0">
                <a:solidFill>
                  <a:srgbClr val="0B1220"/>
                </a:solidFill>
              </a:rPr>
              <a:t>Exploring potential applications with the team.</a:t>
            </a:r>
          </a:p>
        </p:txBody>
      </p:sp>
      <p:sp>
        <p:nvSpPr>
          <p:cNvPr id="12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19C28D19-74FB-42B9-9AD0-723C202D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CONFIDENTIAL · MAPA SOCIETARIO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79C12C2-3422-4008-A08B-109138E9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8482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089E1C0B-A157-4648-9102-50A0A240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BUSINESS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99DECE-D8FB-42F0-8542-CC4E52F2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</a:defRPr>
            </a:pPr>
            <a:r>
              <a:rPr sz="3600" b="1" i="0">
                <a:solidFill>
                  <a:srgbClr val="0B1220"/>
                </a:solidFill>
              </a:rPr>
              <a:t>One data asset, three revenue layers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AB535CD-C896-4C1D-B40B-BDECDF45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6878"/>
                </a:solidFill>
              </a:defRPr>
            </a:pPr>
            <a:r>
              <a:rPr sz="1650" b="0" i="0">
                <a:solidFill>
                  <a:srgbClr val="5E6878"/>
                </a:solidFill>
              </a:rPr>
              <a:t>The live one-off product proves value today. Recurring workflow and data products expand contract size without changing the underlying asset.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B99E84F-9846-4AC3-A945-D0D3C631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LIVE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46EC31F-25DD-4B0E-8353-144295D5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220"/>
                </a:solidFill>
              </a:defRPr>
            </a:pPr>
            <a:r>
              <a:rPr sz="2175" b="1" i="0">
                <a:solidFill>
                  <a:srgbClr val="0B1220"/>
                </a:solidFill>
              </a:rPr>
              <a:t>Self-serve reports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CBA9BAA-61BA-4EED-80C7-B62DAE72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0F766E"/>
                </a:solidFill>
              </a:defRPr>
            </a:pPr>
            <a:r>
              <a:rPr sz="3750" b="1" i="0">
                <a:solidFill>
                  <a:srgbClr val="0F766E"/>
                </a:solidFill>
              </a:rPr>
              <a:t>€22.50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589B2A-D639-4457-9DCF-F01A4CC7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8"/>
                </a:solidFill>
              </a:defRPr>
            </a:pPr>
            <a:r>
              <a:rPr sz="1275" b="0" i="0">
                <a:solidFill>
                  <a:srgbClr val="5E6878"/>
                </a:solidFill>
              </a:rPr>
              <a:t>per due diligence report</a:t>
            </a:r>
          </a:p>
        </p:txBody>
      </p:sp>
      <p:sp>
        <p:nvSpPr>
          <p:cNvPr id="8" name="bullet">
            <a:extLst xmlns:a="http://schemas.openxmlformats.org/drawingml/2006/main">
              <a:ext uri="{FF2B5EF4-FFF2-40B4-BE49-F238E27FC236}">
                <a16:creationId xmlns:a16="http://schemas.microsoft.com/office/drawing/2014/main" id="{B1B4784F-24B9-48F7-B966-65767B34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AB59AE9-A681-41CC-B9FD-460FD660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</a:defRPr>
            </a:pPr>
            <a:r>
              <a:rPr sz="1350" b="0" i="0">
                <a:solidFill>
                  <a:srgbClr val="0B1220"/>
                </a:solidFill>
              </a:rPr>
              <a:t>Free first report acquisition</a:t>
            </a:r>
          </a:p>
        </p:txBody>
      </p:sp>
      <p:sp>
        <p:nvSpPr>
          <p:cNvPr id="10" name="bullet">
            <a:extLst xmlns:a="http://schemas.openxmlformats.org/drawingml/2006/main">
              <a:ext uri="{FF2B5EF4-FFF2-40B4-BE49-F238E27FC236}">
                <a16:creationId xmlns:a16="http://schemas.microsoft.com/office/drawing/2014/main" id="{BDCC0E0A-393B-41FC-9ED5-BDA15EAC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A1B0BC2-5D7D-4EB1-A23B-44658659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</a:defRPr>
            </a:pPr>
            <a:r>
              <a:rPr sz="1350" b="0" i="0">
                <a:solidFill>
                  <a:srgbClr val="0B1220"/>
                </a:solidFill>
              </a:rPr>
              <a:t>+€17.50 annual accounts</a:t>
            </a:r>
          </a:p>
        </p:txBody>
      </p:sp>
      <p:sp>
        <p:nvSpPr>
          <p:cNvPr id="12" name="bullet">
            <a:extLst xmlns:a="http://schemas.openxmlformats.org/drawingml/2006/main">
              <a:ext uri="{FF2B5EF4-FFF2-40B4-BE49-F238E27FC236}">
                <a16:creationId xmlns:a16="http://schemas.microsoft.com/office/drawing/2014/main" id="{606DF365-23BC-489B-B575-E3F171BE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D27FAFC-569C-4B87-95ED-9653D54E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</a:defRPr>
            </a:pPr>
            <a:r>
              <a:rPr sz="1350" b="0" i="0">
                <a:solidFill>
                  <a:srgbClr val="0B1220"/>
                </a:solidFill>
              </a:rPr>
              <a:t>Volume pricing already designed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914845C1-880D-4923-BB6A-7AF385E6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526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27A00DF-F211-4ED4-AEEC-F87C835C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B95A5"/>
                </a:solidFill>
              </a:defRPr>
            </a:pPr>
            <a:r>
              <a:rPr sz="1125" b="1" i="0">
                <a:solidFill>
                  <a:srgbClr val="8B95A5"/>
                </a:solidFill>
              </a:rPr>
              <a:t>NEXT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9AFA1AF-00E6-4CCF-9C49-1B9F34D7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220"/>
                </a:solidFill>
              </a:defRPr>
            </a:pPr>
            <a:r>
              <a:rPr sz="2175" b="1" i="0">
                <a:solidFill>
                  <a:srgbClr val="0B1220"/>
                </a:solidFill>
              </a:rPr>
              <a:t>Pro workspace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814B6C4-8C07-4F0D-968D-66984949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0B1220"/>
                </a:solidFill>
              </a:defRPr>
            </a:pPr>
            <a:r>
              <a:rPr sz="3750" b="1" i="0">
                <a:solidFill>
                  <a:srgbClr val="0B1220"/>
                </a:solidFill>
              </a:rPr>
              <a:t>€99–299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5BD9CBF-4405-483D-8713-93742F5C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8"/>
                </a:solidFill>
              </a:defRPr>
            </a:pPr>
            <a:r>
              <a:rPr sz="1275" b="0" i="0">
                <a:solidFill>
                  <a:srgbClr val="5E6878"/>
                </a:solidFill>
              </a:rPr>
              <a:t>per team / month · planned</a:t>
            </a:r>
          </a:p>
        </p:txBody>
      </p:sp>
      <p:sp>
        <p:nvSpPr>
          <p:cNvPr id="19" name="bullet">
            <a:extLst xmlns:a="http://schemas.openxmlformats.org/drawingml/2006/main">
              <a:ext uri="{FF2B5EF4-FFF2-40B4-BE49-F238E27FC236}">
                <a16:creationId xmlns:a16="http://schemas.microsoft.com/office/drawing/2014/main" id="{06227380-FDF1-4861-917B-692CFE05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91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00E0FD8-B926-482C-8657-68AD7AE0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14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</a:defRPr>
            </a:pPr>
            <a:r>
              <a:rPr sz="1350" b="0" i="0">
                <a:solidFill>
                  <a:srgbClr val="0B1220"/>
                </a:solidFill>
              </a:rPr>
              <a:t>Shared investigations</a:t>
            </a:r>
          </a:p>
        </p:txBody>
      </p:sp>
      <p:sp>
        <p:nvSpPr>
          <p:cNvPr id="21" name="bullet">
            <a:extLst xmlns:a="http://schemas.openxmlformats.org/drawingml/2006/main">
              <a:ext uri="{FF2B5EF4-FFF2-40B4-BE49-F238E27FC236}">
                <a16:creationId xmlns:a16="http://schemas.microsoft.com/office/drawing/2014/main" id="{14745325-2F40-4DB8-AA97-6B3CC9A5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6CA05C8-67BD-4365-8737-A5375A31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33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</a:defRPr>
            </a:pPr>
            <a:r>
              <a:rPr sz="1350" b="0" i="0">
                <a:solidFill>
                  <a:srgbClr val="0B1220"/>
                </a:solidFill>
              </a:rPr>
              <a:t>Monitoring and audit trail</a:t>
            </a:r>
          </a:p>
        </p:txBody>
      </p:sp>
      <p:sp>
        <p:nvSpPr>
          <p:cNvPr id="23" name="bullet">
            <a:extLst xmlns:a="http://schemas.openxmlformats.org/drawingml/2006/main">
              <a:ext uri="{FF2B5EF4-FFF2-40B4-BE49-F238E27FC236}">
                <a16:creationId xmlns:a16="http://schemas.microsoft.com/office/drawing/2014/main" id="{D588D93B-CE50-4D8F-A3C2-50D2A43B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29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8632AC2-AFC9-45E2-9121-CF284FFE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53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</a:defRPr>
            </a:pPr>
            <a:r>
              <a:rPr sz="1350" b="0" i="0">
                <a:solidFill>
                  <a:srgbClr val="0B1220"/>
                </a:solidFill>
              </a:rPr>
              <a:t>Exportable client deliverables</a:t>
            </a: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84095028-D274-411B-94DD-4643F707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9AF3047-301A-499A-9645-411DC998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B95A5"/>
                </a:solidFill>
              </a:defRPr>
            </a:pPr>
            <a:r>
              <a:rPr sz="1125" b="1" i="0">
                <a:solidFill>
                  <a:srgbClr val="8B95A5"/>
                </a:solidFill>
              </a:rPr>
              <a:t>SCALE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F7378EB-E96D-44AA-8F19-0DE4859D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220"/>
                </a:solidFill>
              </a:defRPr>
            </a:pPr>
            <a:r>
              <a:rPr sz="2175" b="1" i="0">
                <a:solidFill>
                  <a:srgbClr val="0B1220"/>
                </a:solidFill>
              </a:rPr>
              <a:t>API &amp; enterprise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2ACAC80-6D13-4F44-B911-A1A5EF3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575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0B1220"/>
                </a:solidFill>
              </a:defRPr>
            </a:pPr>
            <a:r>
              <a:rPr sz="3750" b="1" i="0">
                <a:solidFill>
                  <a:srgbClr val="0B1220"/>
                </a:solidFill>
              </a:rPr>
              <a:t>Annual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289C8C5-6DED-46EC-AFD4-CC0CD10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05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8"/>
                </a:solidFill>
              </a:defRPr>
            </a:pPr>
            <a:r>
              <a:rPr sz="1275" b="0" i="0">
                <a:solidFill>
                  <a:srgbClr val="5E6878"/>
                </a:solidFill>
              </a:rPr>
              <a:t>usage or contract pricing · planned</a:t>
            </a:r>
          </a:p>
        </p:txBody>
      </p:sp>
      <p:sp>
        <p:nvSpPr>
          <p:cNvPr id="30" name="bullet">
            <a:extLst xmlns:a="http://schemas.openxmlformats.org/drawingml/2006/main">
              <a:ext uri="{FF2B5EF4-FFF2-40B4-BE49-F238E27FC236}">
                <a16:creationId xmlns:a16="http://schemas.microsoft.com/office/drawing/2014/main" id="{C65F4173-9503-469F-9303-84749460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91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A8FE94F-2C2C-4E2C-A10C-4FE54E27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</a:defRPr>
            </a:pPr>
            <a:r>
              <a:rPr sz="1350" b="0" i="0">
                <a:solidFill>
                  <a:srgbClr val="0B1220"/>
                </a:solidFill>
              </a:rPr>
              <a:t>Embedded company intelligence</a:t>
            </a:r>
          </a:p>
        </p:txBody>
      </p:sp>
      <p:sp>
        <p:nvSpPr>
          <p:cNvPr id="32" name="bullet">
            <a:extLst xmlns:a="http://schemas.openxmlformats.org/drawingml/2006/main">
              <a:ext uri="{FF2B5EF4-FFF2-40B4-BE49-F238E27FC236}">
                <a16:creationId xmlns:a16="http://schemas.microsoft.com/office/drawing/2014/main" id="{C86C1936-43E8-4CFA-9354-5A6FF8F9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10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6B0E79AF-9C20-4E4B-A0E9-CD3F6CF0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33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</a:defRPr>
            </a:pPr>
            <a:r>
              <a:rPr sz="1350" b="0" i="0">
                <a:solidFill>
                  <a:srgbClr val="0B1220"/>
                </a:solidFill>
              </a:rPr>
              <a:t>Bulk monitoring and screening</a:t>
            </a:r>
          </a:p>
        </p:txBody>
      </p:sp>
      <p:sp>
        <p:nvSpPr>
          <p:cNvPr id="34" name="bullet">
            <a:extLst xmlns:a="http://schemas.openxmlformats.org/drawingml/2006/main">
              <a:ext uri="{FF2B5EF4-FFF2-40B4-BE49-F238E27FC236}">
                <a16:creationId xmlns:a16="http://schemas.microsoft.com/office/drawing/2014/main" id="{746823AF-3284-41E9-8005-48BB1177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29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411D403A-EDAD-4F2A-8BAC-29048A9C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53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</a:defRPr>
            </a:pPr>
            <a:r>
              <a:rPr sz="1350" b="0" i="0">
                <a:solidFill>
                  <a:srgbClr val="0B1220"/>
                </a:solidFill>
              </a:rPr>
              <a:t>Data partnerships and SLAs</a:t>
            </a:r>
          </a:p>
        </p:txBody>
      </p:sp>
      <p:sp>
        <p:nvSpPr>
          <p:cNvPr id="3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B4D578A-6A0F-4D73-81C4-A20979BD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CONFIDENTIAL · MAPA SOCIETARIO</a:t>
            </a:r>
          </a:p>
        </p:txBody>
      </p:sp>
      <p:sp>
        <p:nvSpPr>
          <p:cNvPr id="3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7829096-351F-42F1-B79F-9C42AD52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001270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5F535A6C-3EB1-484C-A8F0-3768F876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COMPETITIVE POSITION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32378C-CA20-4BC7-9567-6B9AA792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</a:defRPr>
            </a:pPr>
            <a:r>
              <a:rPr sz="3600" b="1" i="0">
                <a:solidFill>
                  <a:srgbClr val="0B1220"/>
                </a:solidFill>
              </a:rPr>
              <a:t>Connect the records before selling the report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CD14879-7BC3-4F24-8D2B-12A553B2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6878"/>
                </a:solidFill>
              </a:defRPr>
            </a:pPr>
            <a:r>
              <a:rPr sz="1650" b="0" i="0">
                <a:solidFill>
                  <a:srgbClr val="5E6878"/>
                </a:solidFill>
              </a:rPr>
              <a:t>Mapa Societario does not replace authoritative documents or credit bureaus. It owns the relationship-research step that comes before them.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AE476E9-312E-44B1-90D2-E8D668D6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B95A5"/>
                </a:solidFill>
              </a:defRPr>
            </a:pPr>
            <a:r>
              <a:rPr sz="1275" b="1" i="0">
                <a:solidFill>
                  <a:srgbClr val="8B95A5"/>
                </a:solidFill>
              </a:rPr>
              <a:t>Route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66A69D3-8D1E-42B5-9257-473FD378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B95A5"/>
                </a:solidFill>
              </a:defRPr>
            </a:pPr>
            <a:r>
              <a:rPr sz="1275" b="1" i="0">
                <a:solidFill>
                  <a:srgbClr val="8B95A5"/>
                </a:solidFill>
              </a:rPr>
              <a:t>Primary job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2C22DAA-5033-47CC-A067-8AFC738A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B95A5"/>
                </a:solidFill>
              </a:defRPr>
            </a:pPr>
            <a:r>
              <a:rPr sz="1275" b="1" i="0">
                <a:solidFill>
                  <a:srgbClr val="8B95A5"/>
                </a:solidFill>
              </a:rPr>
              <a:t>What remains unresolved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AD9A4D59-6F6A-4659-9EA9-46A554F0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1076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9067E28-2C67-4B29-AD92-14D03F14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</a:defRPr>
            </a:pPr>
            <a:r>
              <a:rPr sz="1500" b="1" i="0">
                <a:solidFill>
                  <a:srgbClr val="0B1220"/>
                </a:solidFill>
              </a:rPr>
              <a:t>Commercial Registry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5B4AF52-3790-463E-9F75-05D045E3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320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</a:defRPr>
            </a:pPr>
            <a:r>
              <a:rPr sz="1350" b="0" i="0">
                <a:solidFill>
                  <a:srgbClr val="0B1220"/>
                </a:solidFill>
              </a:rPr>
              <a:t>Authoritative current documents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AA71AE4-2FC6-4720-BC47-5D38C760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</a:defRPr>
            </a:pPr>
            <a:r>
              <a:rPr sz="1350" b="0" i="0">
                <a:solidFill>
                  <a:srgbClr val="0B1220"/>
                </a:solidFill>
              </a:rPr>
              <a:t>Manual synthesis across documents and relationships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D0B9912C-37D6-4CCA-A250-0A285424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CE651CF-42DA-4544-B634-A307F109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</a:defRPr>
            </a:pPr>
            <a:r>
              <a:rPr sz="1500" b="1" i="0">
                <a:solidFill>
                  <a:srgbClr val="0B1220"/>
                </a:solidFill>
              </a:rPr>
              <a:t>Report aggregators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6FC219A-4BEA-4544-8BDE-BDD50452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320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</a:defRPr>
            </a:pPr>
            <a:r>
              <a:rPr sz="1350" b="0" i="0">
                <a:solidFill>
                  <a:srgbClr val="0B1220"/>
                </a:solidFill>
              </a:rPr>
              <a:t>Company, financial and credit reports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C20DEF7-37EC-47E6-9D67-0C85FA6C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</a:defRPr>
            </a:pPr>
            <a:r>
              <a:rPr sz="1350" b="0" i="0">
                <a:solidFill>
                  <a:srgbClr val="0B1220"/>
                </a:solidFill>
              </a:rPr>
              <a:t>Company-centric output; network exploration is secondary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0A907507-FB5E-4BF9-8621-F8A0A762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D0744ED-99E5-4DFA-8396-722A0C09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</a:defRPr>
            </a:pPr>
            <a:r>
              <a:rPr sz="1500" b="1" i="0">
                <a:solidFill>
                  <a:srgbClr val="0B1220"/>
                </a:solidFill>
              </a:rPr>
              <a:t>Generic graph tools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E3FF55D-5743-410B-B044-0C9D2D3A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57700"/>
            <a:ext cx="320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</a:defRPr>
            </a:pPr>
            <a:r>
              <a:rPr sz="1350" b="0" i="0">
                <a:solidFill>
                  <a:srgbClr val="0B1220"/>
                </a:solidFill>
              </a:rPr>
              <a:t>Visualize data already supplied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0FA1C53-2F95-41FC-B85F-E9E4F3E7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</a:defRPr>
            </a:pPr>
            <a:r>
              <a:rPr sz="1350" b="0" i="0">
                <a:solidFill>
                  <a:srgbClr val="0B1220"/>
                </a:solidFill>
              </a:rPr>
              <a:t>No Spanish corporate data asset or daily filing pipeline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BC24EE2B-88B5-48D8-B7DE-D56B0396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ighlight-row">
            <a:extLst xmlns:a="http://schemas.openxmlformats.org/drawingml/2006/main">
              <a:ext uri="{FF2B5EF4-FFF2-40B4-BE49-F238E27FC236}">
                <a16:creationId xmlns:a16="http://schemas.microsoft.com/office/drawing/2014/main" id="{9D6C0456-7D18-4ED6-8A35-0B1BC094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1076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5D6ACEE-05EF-4892-B201-154C621C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766E"/>
                </a:solidFill>
              </a:defRPr>
            </a:pPr>
            <a:r>
              <a:rPr sz="1500" b="1" i="0">
                <a:solidFill>
                  <a:srgbClr val="0F766E"/>
                </a:solidFill>
              </a:rPr>
              <a:t>Mapa Societario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0A39743-580D-44C6-B86B-4A42CC90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95900"/>
            <a:ext cx="320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</a:defRPr>
            </a:pPr>
            <a:r>
              <a:rPr sz="1350" b="0" i="0">
                <a:solidFill>
                  <a:srgbClr val="0B1220"/>
                </a:solidFill>
              </a:rPr>
              <a:t>Search, connect, monitor and document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20E35CD-BE23-46CA-B256-0B0EDB40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9590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</a:defRPr>
            </a:pPr>
            <a:r>
              <a:rPr sz="1350" b="0" i="0">
                <a:solidFill>
                  <a:srgbClr val="0B1220"/>
                </a:solidFill>
              </a:rPr>
              <a:t>Graph-first workflow; escalate to official evidence when needed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FE8477F-B3E6-4807-96AA-72A63E3A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Wedge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E034AD5-EE86-4342-B3FB-29CF664D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96265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</a:defRPr>
            </a:pPr>
            <a:r>
              <a:rPr sz="1650" b="1" i="0">
                <a:solidFill>
                  <a:srgbClr val="0B1220"/>
                </a:solidFill>
              </a:rPr>
              <a:t>Faster relationship discovery → better-qualified document purchases and professional workflows.</a:t>
            </a:r>
          </a:p>
        </p:txBody>
      </p:sp>
      <p:sp>
        <p:nvSpPr>
          <p:cNvPr id="2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D964821-5B12-4B2A-A7EA-49957B33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CONFIDENTIAL · MAPA SOCIETARIO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A02C0D4-7383-4749-B1F7-DF35EFD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467042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294CAD1B-315F-46D8-B9D9-3C846EDE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MARKET EXPANSION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2B691E-1E03-47B2-8942-F6798388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</a:defRPr>
            </a:pPr>
            <a:r>
              <a:rPr sz="3600" b="1" i="0">
                <a:solidFill>
                  <a:srgbClr val="0B1220"/>
                </a:solidFill>
              </a:rPr>
              <a:t>Spain is the wedge into Europe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3FF0149-ABFC-4F01-9A52-86688E77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F766E"/>
                </a:solidFill>
              </a:defRPr>
            </a:pPr>
            <a:r>
              <a:rPr sz="5850" b="1" i="0">
                <a:solidFill>
                  <a:srgbClr val="0F766E"/>
                </a:solidFill>
              </a:rPr>
              <a:t>34m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5E8BFF9-2198-43A8-8161-0ECB22E5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220"/>
                </a:solidFill>
              </a:defRPr>
            </a:pPr>
            <a:r>
              <a:rPr sz="2100" b="1" i="0">
                <a:solidFill>
                  <a:srgbClr val="0B1220"/>
                </a:solidFill>
              </a:rPr>
              <a:t>SMEs in the EU in 2025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BB2A308-54FA-42ED-883B-9827C760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4095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6878"/>
                </a:solidFill>
              </a:defRPr>
            </a:pPr>
            <a:r>
              <a:rPr sz="1650" b="0" i="0">
                <a:solidFill>
                  <a:srgbClr val="5E6878"/>
                </a:solidFill>
              </a:rPr>
              <a:t>Corporate identity and relationship diligence is a repeatable problem across fragmented national registries.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75EE800C-B87F-4085-BC7E-53A72F45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0500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125153FD-5C37-44A2-8243-D96E1E3B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24100"/>
            <a:ext cx="381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node">
            <a:extLst xmlns:a="http://schemas.openxmlformats.org/drawingml/2006/main">
              <a:ext uri="{FF2B5EF4-FFF2-40B4-BE49-F238E27FC236}">
                <a16:creationId xmlns:a16="http://schemas.microsoft.com/office/drawing/2014/main" id="{1140E6E7-997D-41EF-A8B9-E3216C81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669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7212D9F-27EF-4E3C-AB79-BB2F2CC2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622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115015E-443B-4383-AECB-07953AF3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812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220"/>
                </a:solidFill>
              </a:defRPr>
            </a:pPr>
            <a:r>
              <a:rPr sz="2175" b="1" i="0">
                <a:solidFill>
                  <a:srgbClr val="0B1220"/>
                </a:solidFill>
              </a:rPr>
              <a:t>Spain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02278F8-096C-4638-B75B-9B7E80F2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384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878"/>
                </a:solidFill>
              </a:defRPr>
            </a:pPr>
            <a:r>
              <a:rPr sz="1425" b="0" i="0">
                <a:solidFill>
                  <a:srgbClr val="5E6878"/>
                </a:solidFill>
              </a:rPr>
              <a:t>Deepest public graph and professional workflow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A29D874-C938-4239-8BE9-EDB74349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90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Mapa Societario</a:t>
            </a:r>
          </a:p>
        </p:txBody>
      </p:sp>
      <p:sp>
        <p:nvSpPr>
          <p:cNvPr id="13" name="timeline-node">
            <a:extLst xmlns:a="http://schemas.openxmlformats.org/drawingml/2006/main">
              <a:ext uri="{FF2B5EF4-FFF2-40B4-BE49-F238E27FC236}">
                <a16:creationId xmlns:a16="http://schemas.microsoft.com/office/drawing/2014/main" id="{3AB5AA9B-5B0B-4D0D-86DD-F8D55D6D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957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3812667-DFC7-4899-95ED-118C3DF2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90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17C39C8-B51A-4979-A475-777EBC5B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220"/>
                </a:solidFill>
              </a:defRPr>
            </a:pPr>
            <a:r>
              <a:rPr sz="2175" b="1" i="0">
                <a:solidFill>
                  <a:srgbClr val="0B1220"/>
                </a:solidFill>
              </a:rPr>
              <a:t>Five-country base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0C6C32E-F48C-4AB8-B589-14F85E22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878"/>
                </a:solidFill>
              </a:defRPr>
            </a:pPr>
            <a:r>
              <a:rPr sz="1425" b="0" i="0">
                <a:solidFill>
                  <a:srgbClr val="5E6878"/>
                </a:solidFill>
              </a:rPr>
              <a:t>Reuse NC Data coverage in UK, France, Switzerland and Italy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E69E3B8-F740-4FA9-9CAD-659D712C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19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Existing operating knowledge</a:t>
            </a:r>
          </a:p>
        </p:txBody>
      </p:sp>
      <p:sp>
        <p:nvSpPr>
          <p:cNvPr id="18" name="timeline-node">
            <a:extLst xmlns:a="http://schemas.openxmlformats.org/drawingml/2006/main">
              <a:ext uri="{FF2B5EF4-FFF2-40B4-BE49-F238E27FC236}">
                <a16:creationId xmlns:a16="http://schemas.microsoft.com/office/drawing/2014/main" id="{4A9C028D-6FF2-488C-BDE8-FD678846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244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19763AF-3A0D-467C-8A08-9DA0AE91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19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88FEA91-C49C-4273-AE9C-A25C5224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387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220"/>
                </a:solidFill>
              </a:defRPr>
            </a:pPr>
            <a:r>
              <a:rPr sz="2175" b="1" i="0">
                <a:solidFill>
                  <a:srgbClr val="0B1220"/>
                </a:solidFill>
              </a:rPr>
              <a:t>Cross-border layer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524ED33-5066-4B94-B621-90E69DFA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959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878"/>
                </a:solidFill>
              </a:defRPr>
            </a:pPr>
            <a:r>
              <a:rPr sz="1425" b="0" i="0">
                <a:solidFill>
                  <a:srgbClr val="5E6878"/>
                </a:solidFill>
              </a:rPr>
              <a:t>Resolve entities across jurisdictions and sell one graph/API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C863EC7-6C08-48A1-8BEC-C37C3140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848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Venture-scale expansion</a:t>
            </a:r>
          </a:p>
        </p:txBody>
      </p:sp>
      <p:sp>
        <p:nvSpPr>
          <p:cNvPr id="2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041772C-59AF-4748-BC08-D9353D6F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CONFIDENTIAL · MAPA SOCIETARIO</a:t>
            </a:r>
          </a:p>
        </p:txBody>
      </p:sp>
      <p:sp>
        <p:nvSpPr>
          <p:cNvPr id="2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502ABF8-65FD-470C-A8A8-A171EF1D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917948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6326B308-84A2-44B7-BDA3-51B27407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EXECUTION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E3DC30-0CB9-464D-AD90-5B5580E2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</a:defRPr>
            </a:pPr>
            <a:r>
              <a:rPr sz="3600" b="1" i="0">
                <a:solidFill>
                  <a:srgbClr val="0B1220"/>
                </a:solidFill>
              </a:rPr>
              <a:t>Founder velocity is already visible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954C394-0A4D-4095-B677-C60D883B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6878"/>
                </a:solidFill>
              </a:defRPr>
            </a:pPr>
            <a:r>
              <a:rPr sz="1650" b="0" i="0">
                <a:solidFill>
                  <a:srgbClr val="5E6878"/>
                </a:solidFill>
              </a:rPr>
              <a:t>Built inside an operating corporate-intelligence firm—not as a prototype detached from the work.</a:t>
            </a:r>
          </a:p>
        </p:txBody>
      </p:sp>
      <p:sp>
        <p:nvSpPr>
          <p:cNvPr id="4" name="operator-panel">
            <a:extLst xmlns:a="http://schemas.openxmlformats.org/drawingml/2006/main">
              <a:ext uri="{FF2B5EF4-FFF2-40B4-BE49-F238E27FC236}">
                <a16:creationId xmlns:a16="http://schemas.microsoft.com/office/drawing/2014/main" id="{270A0807-C2B1-47F1-A736-5350761D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51816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A0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0364B60-03C8-4216-9B10-97E937DB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Nurnberg Consulting SL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4C35541-C43C-4A89-AF09-5CACD7FB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B8A6"/>
                </a:solidFill>
              </a:defRPr>
            </a:pPr>
            <a:r>
              <a:rPr sz="1500" b="1" i="0">
                <a:solidFill>
                  <a:srgbClr val="14B8A6"/>
                </a:solidFill>
              </a:rPr>
              <a:t>Madrid · operating since 2013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3814C51-A400-4B09-AE4C-2CA6C8A7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4CBD5"/>
                </a:solidFill>
              </a:defRPr>
            </a:pPr>
            <a:r>
              <a:rPr sz="1500" b="0" i="0">
                <a:solidFill>
                  <a:srgbClr val="C4CBD5"/>
                </a:solidFill>
              </a:rPr>
              <a:t>Corporate intelligence, business research and multi-jurisdiction investigation experience provide the domain context behind the product.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DAED13-5A90-48E6-A479-4E770705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220"/>
                </a:solidFill>
              </a:defRPr>
            </a:pPr>
            <a:r>
              <a:rPr sz="2100" b="1" i="0">
                <a:solidFill>
                  <a:srgbClr val="0B1220"/>
                </a:solidFill>
              </a:rPr>
              <a:t>Round-funded focus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698F2B8-6526-4A36-98EC-FC11D721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766E"/>
                </a:solidFill>
              </a:defRPr>
            </a:pPr>
            <a:r>
              <a:rPr sz="1275" b="1" i="0">
                <a:solidFill>
                  <a:srgbClr val="0F766E"/>
                </a:solidFill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0113EE0-C4EE-46C1-866C-9058867A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81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</a:defRPr>
            </a:pPr>
            <a:r>
              <a:rPr sz="1725" b="1" i="0">
                <a:solidFill>
                  <a:srgbClr val="0B1220"/>
                </a:solidFill>
              </a:rPr>
              <a:t>Data / ML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10B6804-F9DE-4A41-B186-FB1C31B6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813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8"/>
                </a:solidFill>
              </a:defRPr>
            </a:pPr>
            <a:r>
              <a:rPr sz="1275" b="0" i="0">
                <a:solidFill>
                  <a:srgbClr val="5E6878"/>
                </a:solidFill>
              </a:rPr>
              <a:t>Entity resolution, quality systems and cross-border graph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44DA77F-B519-452E-9799-F8F8506E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33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766E"/>
                </a:solidFill>
              </a:defRPr>
            </a:pPr>
            <a:r>
              <a:rPr sz="1275" b="1" i="0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D248766-7915-45F6-8930-74A6E352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14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</a:defRPr>
            </a:pPr>
            <a:r>
              <a:rPr sz="1725" b="1" i="0">
                <a:solidFill>
                  <a:srgbClr val="0B1220"/>
                </a:solidFill>
              </a:rPr>
              <a:t>Product engineering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13492CF-509D-4E0E-B684-74700221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147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8"/>
                </a:solidFill>
              </a:defRPr>
            </a:pPr>
            <a:r>
              <a:rPr sz="1275" b="0" i="0">
                <a:solidFill>
                  <a:srgbClr val="5E6878"/>
                </a:solidFill>
              </a:rPr>
              <a:t>Pro workspace, collaboration, reporting and scale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A88081C-A114-453E-B1CB-4B478BBD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67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766E"/>
                </a:solidFill>
              </a:defRPr>
            </a:pPr>
            <a:r>
              <a:rPr sz="1275" b="1" i="0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66CE0C9-BB8B-431D-9276-74B00762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</a:defRPr>
            </a:pPr>
            <a:r>
              <a:rPr sz="1725" b="1" i="0">
                <a:solidFill>
                  <a:srgbClr val="0B1220"/>
                </a:solidFill>
              </a:rPr>
              <a:t>Professional GTM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ECCFAC4-9162-4834-8827-66C30984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482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8"/>
                </a:solidFill>
              </a:defRPr>
            </a:pPr>
            <a:r>
              <a:rPr sz="1275" b="0" i="0">
                <a:solidFill>
                  <a:srgbClr val="5E6878"/>
                </a:solidFill>
              </a:rPr>
              <a:t>Design partners, conversion, channels and enterprise sales</a:t>
            </a:r>
          </a:p>
        </p:txBody>
      </p:sp>
      <p:sp>
        <p:nvSpPr>
          <p:cNvPr id="18" name="velocity-strip">
            <a:extLst xmlns:a="http://schemas.openxmlformats.org/drawingml/2006/main">
              <a:ext uri="{FF2B5EF4-FFF2-40B4-BE49-F238E27FC236}">
                <a16:creationId xmlns:a16="http://schemas.microsoft.com/office/drawing/2014/main" id="{3FEDC684-D259-4587-A07C-7480660E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1277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4D67A73-523E-498E-9955-96E4C528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</a:defRPr>
            </a:pPr>
            <a:r>
              <a:rPr sz="1500" b="1" i="0">
                <a:solidFill>
                  <a:srgbClr val="0B1220"/>
                </a:solidFill>
              </a:rPr>
              <a:t>738 commits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FE1CA29-35F0-41D3-851A-8C1F6197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38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</a:defRPr>
            </a:pPr>
            <a:r>
              <a:rPr sz="1500" b="1" i="0">
                <a:solidFill>
                  <a:srgbClr val="0B1220"/>
                </a:solidFill>
              </a:rPr>
              <a:t>40k source lines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1458288-3978-475E-8B97-2D90EA09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38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</a:defRPr>
            </a:pPr>
            <a:r>
              <a:rPr sz="1500" b="1" i="0">
                <a:solidFill>
                  <a:srgbClr val="0B1220"/>
                </a:solidFill>
              </a:rPr>
              <a:t>45 test files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780C539-3450-4C99-9594-ACF111BC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6388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0F766E"/>
                </a:solidFill>
              </a:defRPr>
            </a:pPr>
            <a:r>
              <a:rPr sz="1425" b="1" i="0">
                <a:solidFill>
                  <a:srgbClr val="0F766E"/>
                </a:solidFill>
              </a:rPr>
              <a:t>Web · Android · Chrome · Public API</a:t>
            </a:r>
          </a:p>
        </p:txBody>
      </p:sp>
      <p:sp>
        <p:nvSpPr>
          <p:cNvPr id="2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3C1660C-6F07-4A81-A671-105AEB7B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CONFIDENTIAL · MAPA SOCIETARIO</a:t>
            </a:r>
          </a:p>
        </p:txBody>
      </p:sp>
      <p:sp>
        <p:nvSpPr>
          <p:cNvPr id="2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D46330A-222B-433E-9C67-475472FA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900820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CD3E6251-3691-4476-ACDD-26916861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B8A6"/>
                </a:solidFill>
              </a:defRPr>
            </a:pPr>
            <a:r>
              <a:rPr sz="1200" b="1" i="0">
                <a:solidFill>
                  <a:srgbClr val="14B8A6"/>
                </a:solidFill>
              </a:rPr>
              <a:t>THE ROUND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81C369-486B-4FA7-91A5-A6F53BDC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€750k to prove repeatable revenue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51D2DB4-FFAE-4A7D-B29A-EA4E8F98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8C0CC"/>
                </a:solidFill>
              </a:defRPr>
            </a:pPr>
            <a:r>
              <a:rPr sz="1800" b="0" i="0">
                <a:solidFill>
                  <a:srgbClr val="B8C0CC"/>
                </a:solidFill>
              </a:rPr>
              <a:t>18 months of focused execution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DE4561D-0300-4F4C-ACCB-3EB561D1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14B8A6"/>
                </a:solidFill>
              </a:defRPr>
            </a:pPr>
            <a:r>
              <a:rPr sz="5850" b="1" i="0">
                <a:solidFill>
                  <a:srgbClr val="14B8A6"/>
                </a:solidFill>
              </a:rPr>
              <a:t>€750k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18357A6-21C0-451C-B696-F050BC68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recommended pre-seed raise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7E60D25-7073-456D-946C-163C0F00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Use of funds</a:t>
            </a:r>
          </a:p>
        </p:txBody>
      </p:sp>
      <p:sp>
        <p:nvSpPr>
          <p:cNvPr id="7" name="allocation-bar">
            <a:extLst xmlns:a="http://schemas.openxmlformats.org/drawingml/2006/main">
              <a:ext uri="{FF2B5EF4-FFF2-40B4-BE49-F238E27FC236}">
                <a16:creationId xmlns:a16="http://schemas.microsoft.com/office/drawing/2014/main" id="{70B06748-8CC8-4213-A969-A7CCFFBB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llocation-bar">
            <a:extLst xmlns:a="http://schemas.openxmlformats.org/drawingml/2006/main">
              <a:ext uri="{FF2B5EF4-FFF2-40B4-BE49-F238E27FC236}">
                <a16:creationId xmlns:a16="http://schemas.microsoft.com/office/drawing/2014/main" id="{AC232406-A916-45DE-AD70-1BD62584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57700"/>
            <a:ext cx="11191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llocation-bar">
            <a:extLst xmlns:a="http://schemas.openxmlformats.org/drawingml/2006/main">
              <a:ext uri="{FF2B5EF4-FFF2-40B4-BE49-F238E27FC236}">
                <a16:creationId xmlns:a16="http://schemas.microsoft.com/office/drawing/2014/main" id="{43EBB31D-7358-4494-B6FE-19D8B2EA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445770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llocation-bar">
            <a:extLst xmlns:a="http://schemas.openxmlformats.org/drawingml/2006/main">
              <a:ext uri="{FF2B5EF4-FFF2-40B4-BE49-F238E27FC236}">
                <a16:creationId xmlns:a16="http://schemas.microsoft.com/office/drawing/2014/main" id="{A2094A67-3EE0-458E-BF8F-A1A64FD7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457700"/>
            <a:ext cx="67151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92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llocation-key">
            <a:extLst xmlns:a="http://schemas.openxmlformats.org/drawingml/2006/main">
              <a:ext uri="{FF2B5EF4-FFF2-40B4-BE49-F238E27FC236}">
                <a16:creationId xmlns:a16="http://schemas.microsoft.com/office/drawing/2014/main" id="{93C1C915-1A2B-466B-BED2-A37C73AB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4B99F96-98BC-41E3-B4A3-DD149577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8CFD8"/>
                </a:solidFill>
              </a:defRPr>
            </a:pPr>
            <a:r>
              <a:rPr sz="1200" b="0" i="0">
                <a:solidFill>
                  <a:srgbClr val="C8CFD8"/>
                </a:solidFill>
              </a:rPr>
              <a:t>40%  Data &amp; engineering</a:t>
            </a:r>
          </a:p>
        </p:txBody>
      </p:sp>
      <p:sp>
        <p:nvSpPr>
          <p:cNvPr id="13" name="allocation-key">
            <a:extLst xmlns:a="http://schemas.openxmlformats.org/drawingml/2006/main">
              <a:ext uri="{FF2B5EF4-FFF2-40B4-BE49-F238E27FC236}">
                <a16:creationId xmlns:a16="http://schemas.microsoft.com/office/drawing/2014/main" id="{6B31550B-79D8-4E10-BA96-1E54E1E7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B8C775F-D18F-465E-BCD7-A11CE100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8CFD8"/>
                </a:solidFill>
              </a:defRPr>
            </a:pPr>
            <a:r>
              <a:rPr sz="1200" b="0" i="0">
                <a:solidFill>
                  <a:srgbClr val="C8CFD8"/>
                </a:solidFill>
              </a:rPr>
              <a:t>25%  Product &amp; AI</a:t>
            </a:r>
          </a:p>
        </p:txBody>
      </p:sp>
      <p:sp>
        <p:nvSpPr>
          <p:cNvPr id="15" name="allocation-key">
            <a:extLst xmlns:a="http://schemas.openxmlformats.org/drawingml/2006/main">
              <a:ext uri="{FF2B5EF4-FFF2-40B4-BE49-F238E27FC236}">
                <a16:creationId xmlns:a16="http://schemas.microsoft.com/office/drawing/2014/main" id="{04CEDDE2-B48D-4493-9DAA-32D0A636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A79230A-0DE7-4AD4-9F21-C82A1891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8CFD8"/>
                </a:solidFill>
              </a:defRPr>
            </a:pPr>
            <a:r>
              <a:rPr sz="1200" b="0" i="0">
                <a:solidFill>
                  <a:srgbClr val="C8CFD8"/>
                </a:solidFill>
              </a:rPr>
              <a:t>20%  Go-to-market</a:t>
            </a:r>
          </a:p>
        </p:txBody>
      </p:sp>
      <p:sp>
        <p:nvSpPr>
          <p:cNvPr id="17" name="allocation-key">
            <a:extLst xmlns:a="http://schemas.openxmlformats.org/drawingml/2006/main">
              <a:ext uri="{FF2B5EF4-FFF2-40B4-BE49-F238E27FC236}">
                <a16:creationId xmlns:a16="http://schemas.microsoft.com/office/drawing/2014/main" id="{0184062C-4C1F-4FF4-849A-B4636586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92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0DBE52F-E2BF-4058-95BB-65D653DA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8CFD8"/>
                </a:solidFill>
              </a:defRPr>
            </a:pPr>
            <a:r>
              <a:rPr sz="1200" b="0" i="0">
                <a:solidFill>
                  <a:srgbClr val="C8CFD8"/>
                </a:solidFill>
              </a:rPr>
              <a:t>15%  Infra, legal &amp; security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803D262B-FECC-4934-B2FE-CB1674A4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955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45160E9-8D71-47D3-B233-46DB4413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18-month proof points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8166695-4CF4-4EFD-ABA2-701AFB51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B8A6"/>
                </a:solidFill>
              </a:defRPr>
            </a:pPr>
            <a:r>
              <a:rPr sz="1200" b="1" i="0">
                <a:solidFill>
                  <a:srgbClr val="14B8A6"/>
                </a:solidFill>
              </a:rPr>
              <a:t>01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15BF680-B64F-4816-B22F-95291312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241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Pro workspace live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979B3DB-E298-4B59-A850-159C995D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EB7C4"/>
                </a:solidFill>
              </a:defRPr>
            </a:pPr>
            <a:r>
              <a:rPr sz="1200" b="0" i="0">
                <a:solidFill>
                  <a:srgbClr val="AEB7C4"/>
                </a:solidFill>
              </a:rPr>
              <a:t>Collaboration, monitoring and export become a recurring product.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01BACB2-E870-4EDA-A590-1A4F136E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B8A6"/>
                </a:solidFill>
              </a:defRPr>
            </a:pPr>
            <a:r>
              <a:rPr sz="1200" b="1" i="0">
                <a:solidFill>
                  <a:srgbClr val="14B8A6"/>
                </a:solidFill>
              </a:rPr>
              <a:t>02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51631DD-C962-42D2-A5C7-CE67A452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052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100 paying organizations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5A6CBFA-F44F-4391-B537-A54E5117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290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EB7C4"/>
                </a:solidFill>
              </a:defRPr>
            </a:pPr>
            <a:r>
              <a:rPr sz="1200" b="0" i="0">
                <a:solidFill>
                  <a:srgbClr val="AEB7C4"/>
                </a:solidFill>
              </a:rPr>
              <a:t>Professional design partners convert into repeatable accounts.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E33B0ED-EF93-4145-B68F-C247A9A8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05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B8A6"/>
                </a:solidFill>
              </a:defRPr>
            </a:pPr>
            <a:r>
              <a:rPr sz="1200" b="1" i="0">
                <a:solidFill>
                  <a:srgbClr val="14B8A6"/>
                </a:solidFill>
              </a:rPr>
              <a:t>03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85DF9B8-9A17-4AA5-A869-62B8ADFA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862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€25k MRR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08E66FE-0092-4F7A-B8C7-92A08C7A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101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EB7C4"/>
                </a:solidFill>
              </a:defRPr>
            </a:pPr>
            <a:r>
              <a:rPr sz="1200" b="0" i="0">
                <a:solidFill>
                  <a:srgbClr val="AEB7C4"/>
                </a:solidFill>
              </a:rPr>
              <a:t>A €300k run-rate validates the next institutional round.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E9340C3-FFEA-411D-8172-F25A2D7A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863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B8A6"/>
                </a:solidFill>
              </a:defRPr>
            </a:pPr>
            <a:r>
              <a:rPr sz="1200" b="1" i="0">
                <a:solidFill>
                  <a:srgbClr val="14B8A6"/>
                </a:solidFill>
              </a:rPr>
              <a:t>04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196F7CFD-1BDE-4576-83D4-668E1852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673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5 API / enterprise partners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B8CF54B-BF46-4B96-9B40-49147572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911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EB7C4"/>
                </a:solidFill>
              </a:defRPr>
            </a:pPr>
            <a:r>
              <a:rPr sz="1200" b="0" i="0">
                <a:solidFill>
                  <a:srgbClr val="AEB7C4"/>
                </a:solidFill>
              </a:rPr>
              <a:t>Prove that the data asset embeds beyond the web app.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0E664AF-CE75-4039-84A0-BC9D65D9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000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B8A6"/>
                </a:solidFill>
              </a:defRPr>
            </a:pPr>
            <a:r>
              <a:rPr sz="1350" b="1" i="0">
                <a:solidFill>
                  <a:srgbClr val="14B8A6"/>
                </a:solidFill>
              </a:rPr>
              <a:t>mapasocietario.es  ·  mapasocietario@ncdata.eu</a:t>
            </a:r>
          </a:p>
        </p:txBody>
      </p:sp>
      <p:sp>
        <p:nvSpPr>
          <p:cNvPr id="3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C2029C5-1B5B-4909-8CD1-FC4FC1E6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7B0BE"/>
                </a:solidFill>
              </a:defRPr>
            </a:pPr>
            <a:r>
              <a:rPr sz="900" b="1" i="0">
                <a:solidFill>
                  <a:srgbClr val="A7B0BE"/>
                </a:solidFill>
              </a:rPr>
              <a:t>CONFIDENTIAL · MAPA SOCIETARIO</a:t>
            </a:r>
          </a:p>
        </p:txBody>
      </p:sp>
      <p:sp>
        <p:nvSpPr>
          <p:cNvPr id="3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0F5E4D8-1904-40EA-85E6-DD2006EB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0BE"/>
                </a:solidFill>
              </a:defRPr>
            </a:pPr>
            <a:r>
              <a:rPr sz="900" b="1" i="0">
                <a:solidFill>
                  <a:srgbClr val="A7B0BE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633682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69EE82EA-DF7C-4913-9D15-647C5773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STRATEGIC INVESTOR APPENDIX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080F7D-616F-4551-B1B4-D1CE7193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</a:defRPr>
            </a:pPr>
            <a:r>
              <a:rPr sz="3600" b="1" i="0">
                <a:solidFill>
                  <a:srgbClr val="0B1220"/>
                </a:solidFill>
              </a:rPr>
              <a:t>The graph can become a reporting advantage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BF41A7E-4E0E-4C80-9061-7A7929B1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6878"/>
                </a:solidFill>
              </a:defRPr>
            </a:pPr>
            <a:r>
              <a:rPr sz="1650" b="0" i="0">
                <a:solidFill>
                  <a:srgbClr val="5E6878"/>
                </a:solidFill>
              </a:rPr>
              <a:t>For a media owner, the value is not only financial. Mapa Societario can become proprietary research infrastructure and a differentiated data product.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EFE58EF-E410-4D0E-8DF8-28F0A358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766E"/>
                </a:solidFill>
              </a:defRPr>
            </a:pPr>
            <a:r>
              <a:rPr sz="1275" b="1" i="0">
                <a:solidFill>
                  <a:srgbClr val="0F766E"/>
                </a:solidFill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53A77F9-FD61-4679-967D-0F84254D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3257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220"/>
                </a:solidFill>
              </a:defRPr>
            </a:pPr>
            <a:r>
              <a:rPr sz="2100" b="1" i="0">
                <a:solidFill>
                  <a:srgbClr val="0B1220"/>
                </a:solidFill>
              </a:rPr>
              <a:t>Faster story development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8FA80061-7F18-47CA-88CC-2A7CC8D4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059EFC2-F243-4064-8D2F-D9809F4B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3257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878"/>
                </a:solidFill>
              </a:defRPr>
            </a:pPr>
            <a:r>
              <a:rPr sz="1425" b="0" i="0">
                <a:solidFill>
                  <a:srgbClr val="5E6878"/>
                </a:solidFill>
              </a:rPr>
              <a:t>Move from a company or person to connected entities, role histories and source documents before competitors assemble the same context.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DACB8EF-6F28-4DCD-820E-2BA5BAE2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766E"/>
                </a:solidFill>
              </a:defRPr>
            </a:pPr>
            <a:r>
              <a:rPr sz="1275" b="1" i="0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46C51B2-01C3-445B-9C48-5B2741BD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3257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220"/>
                </a:solidFill>
              </a:defRPr>
            </a:pPr>
            <a:r>
              <a:rPr sz="2100" b="1" i="0">
                <a:solidFill>
                  <a:srgbClr val="0B1220"/>
                </a:solidFill>
              </a:rPr>
              <a:t>Evidence-led newsroom workflow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AA23AEF-ACEE-4389-A424-EAA87BE1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04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A9AD342-1920-4076-B24A-3FE6D2EB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3257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878"/>
                </a:solidFill>
              </a:defRPr>
            </a:pPr>
            <a:r>
              <a:rPr sz="1425" b="0" i="0">
                <a:solidFill>
                  <a:srgbClr val="5E6878"/>
                </a:solidFill>
              </a:rPr>
              <a:t>Give journalists a shared, reproducible investigation path with notes, saved graphs, monitoring and cited outputs.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C9DAF12-3DBA-408B-BF85-2AEF8BFC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05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766E"/>
                </a:solidFill>
              </a:defRPr>
            </a:pPr>
            <a:r>
              <a:rPr sz="1275" b="1" i="0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1952666-8FE5-4860-A1A9-11DA2197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81300"/>
            <a:ext cx="3257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220"/>
                </a:solidFill>
              </a:defRPr>
            </a:pPr>
            <a:r>
              <a:rPr sz="2100" b="1" i="0">
                <a:solidFill>
                  <a:srgbClr val="0B1220"/>
                </a:solidFill>
              </a:rPr>
              <a:t>New commercial products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3E339168-999D-41C4-B27C-35F215B4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04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E3942CB-78A2-4FFD-9FE9-81B4EF4D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24300"/>
            <a:ext cx="3257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878"/>
                </a:solidFill>
              </a:defRPr>
            </a:pPr>
            <a:r>
              <a:rPr sz="1425" b="0" i="0">
                <a:solidFill>
                  <a:srgbClr val="5E6878"/>
                </a:solidFill>
              </a:rPr>
              <a:t>Create corporate-network alerts, sector intelligence, data licensing or premium research products on top of the same asset.</a:t>
            </a:r>
          </a:p>
        </p:txBody>
      </p:sp>
      <p:sp>
        <p:nvSpPr>
          <p:cNvPr id="16" name="strategic-callout">
            <a:extLst xmlns:a="http://schemas.openxmlformats.org/drawingml/2006/main">
              <a:ext uri="{FF2B5EF4-FFF2-40B4-BE49-F238E27FC236}">
                <a16:creationId xmlns:a16="http://schemas.microsoft.com/office/drawing/2014/main" id="{A868F35A-402B-4AA4-A0F5-31A9FD5D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7E49133-50AC-427B-9849-97150830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4B8A6"/>
                </a:solidFill>
              </a:defRPr>
            </a:pPr>
            <a:r>
              <a:rPr sz="1275" b="1" i="0">
                <a:solidFill>
                  <a:srgbClr val="14B8A6"/>
                </a:solidFill>
              </a:rPr>
              <a:t>Current signal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080DC28-492F-426B-9966-1E386D70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7340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A major Spanish news agency is discussing potential applications with the team.</a:t>
            </a:r>
          </a:p>
        </p:txBody>
      </p:sp>
      <p:sp>
        <p:nvSpPr>
          <p:cNvPr id="19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B17673C-56CB-48E0-AB90-C1985675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CONFIDENTIAL · MAPA SOCIETARIO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998CA5B-2822-4881-A995-A2EB5098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B95A5"/>
                </a:solidFill>
              </a:defRPr>
            </a:pPr>
            <a:r>
              <a:rPr sz="900" b="1" i="0">
                <a:solidFill>
                  <a:srgbClr val="8B95A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52635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2026-08-13T22:21:12.6670000Z</dcterms:created>
  <dcterms:modified xsi:type="dcterms:W3CDTF">2026-08-13T22:21:12.6670000Z</dcterms:modified>
</coreProperties>
</file>